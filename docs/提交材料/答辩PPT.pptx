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1DA8E-E7F7-4603-B25F-D155C761774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8690E2-4ACE-43C2-BAAC-762274EBCB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580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【0:00-0:25】</a:t>
            </a:r>
            <a:r>
              <a:rPr lang="zh-CN" altLang="en-US"/>
              <a:t>开场一句话：银枢</a:t>
            </a:r>
            <a:r>
              <a:rPr lang="en-US" altLang="zh-CN"/>
              <a:t>·AI</a:t>
            </a:r>
            <a:r>
              <a:rPr lang="zh-CN" altLang="en-US"/>
              <a:t>银行副驾，让用户用一句大白话办完银行业务，同时把风控与适当性做成 </a:t>
            </a:r>
            <a:r>
              <a:rPr lang="en-US" altLang="zh-CN"/>
              <a:t>AI </a:t>
            </a:r>
            <a:r>
              <a:rPr lang="zh-CN" altLang="en-US"/>
              <a:t>的能力边界</a:t>
            </a:r>
            <a:r>
              <a:rPr lang="en-US" altLang="zh-CN"/>
              <a:t>——</a:t>
            </a:r>
            <a:r>
              <a:rPr lang="zh-CN" altLang="en-US"/>
              <a:t>而不是免责声明。今天我用 </a:t>
            </a:r>
            <a:r>
              <a:rPr lang="en-US" altLang="zh-CN"/>
              <a:t>8 </a:t>
            </a:r>
            <a:r>
              <a:rPr lang="zh-CN" altLang="en-US"/>
              <a:t>分钟讲清三件事：我们做了什么、安全上怎么证明、以及能落到哪里。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092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【0:25-1:10】</a:t>
            </a:r>
            <a:r>
              <a:rPr lang="zh-CN" altLang="en-US"/>
              <a:t>这一页是立论。评委关心的是：为什么又多一个 </a:t>
            </a:r>
            <a:r>
              <a:rPr lang="en-US" altLang="zh-CN"/>
              <a:t>AI </a:t>
            </a:r>
            <a:r>
              <a:rPr lang="zh-CN" altLang="en-US"/>
              <a:t>客服？我们的区别在于</a:t>
            </a:r>
            <a:r>
              <a:rPr lang="en-US" altLang="zh-CN"/>
              <a:t>——</a:t>
            </a:r>
            <a:r>
              <a:rPr lang="zh-CN" altLang="en-US"/>
              <a:t>我们不是问答机器人，而是能真实扣款、能拦截、能撤销，并且该拒绝时不含糊的执行型助手。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0827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【1:10-2:10】</a:t>
            </a:r>
            <a:r>
              <a:rPr lang="zh-CN" altLang="en-US"/>
              <a:t>六场景一次讲完，重点落在两个“不像客服”的地方：①跨场景联动是一个对话里完成“锁定资金 → 预约下单 → 提醒”；②理财是我问它“挑收益最高的”，它却因为适当性把高收益产品屏蔽了。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7105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【2:10-2:45】</a:t>
            </a:r>
            <a:r>
              <a:rPr lang="zh-CN" altLang="en-US"/>
              <a:t>这里强调“同一套内核、多个通道”。</a:t>
            </a:r>
            <a:r>
              <a:rPr lang="en-US" altLang="zh-CN"/>
              <a:t>IM </a:t>
            </a:r>
            <a:r>
              <a:rPr lang="zh-CN" altLang="en-US"/>
              <a:t>渠道是我们刻意做的取舍：文本通道不做人脸，红色操作一律引导到 </a:t>
            </a:r>
            <a:r>
              <a:rPr lang="en-US" altLang="zh-CN"/>
              <a:t>App——</a:t>
            </a:r>
            <a:r>
              <a:rPr lang="zh-CN" altLang="en-US"/>
              <a:t>因为现场因子不能被文本替代，否则多因子就形同虚设。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037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【2:45-4:00】</a:t>
            </a:r>
            <a:r>
              <a:rPr lang="zh-CN" altLang="en-US"/>
              <a:t>这是赛题“高优先级”的第一条，也是我们最下功夫的地方。特别说明两点：转账按“当日累计”而不是单笔；红色操作即使你知道验证码，没有人脸也执行不了。界面上会直接写出分级依据，比如“当日累计转账 </a:t>
            </a:r>
            <a:r>
              <a:rPr lang="en-US" altLang="zh-CN"/>
              <a:t>¥2,000 </a:t>
            </a:r>
            <a:r>
              <a:rPr lang="zh-CN" altLang="en-US"/>
              <a:t>超过 </a:t>
            </a:r>
            <a:r>
              <a:rPr lang="en-US" altLang="zh-CN"/>
              <a:t>¥1,000”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2488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【4:00-5:10】</a:t>
            </a:r>
            <a:r>
              <a:rPr lang="zh-CN" altLang="en-US"/>
              <a:t>注入防御这页评委常问。我们的答案不是“提示词写得狠”，而是结构上不给你绕过的可能：工具是白名单、门禁在服务端、资金变动必须经过用户多因子确认。所以即使模型被诱导，也没有“直接执行”的路径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7492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【5:10-5:50】</a:t>
            </a:r>
            <a:r>
              <a:rPr lang="zh-CN" altLang="en-US"/>
              <a:t>一句话讲架构：把“智能”和“动钱”彻底分开。模型再聪明也只能提出申请，真正扣款只发生在动作层，而且必须经过用户确认与执行前二次校验。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1947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【5:50-6:50】</a:t>
            </a:r>
            <a:r>
              <a:rPr lang="zh-CN" altLang="en-US"/>
              <a:t>这一页是技术分量。特别强调“独立复现”：数据里预埋了 </a:t>
            </a:r>
            <a:r>
              <a:rPr lang="en-US" altLang="zh-CN"/>
              <a:t>4 </a:t>
            </a:r>
            <a:r>
              <a:rPr lang="zh-CN" altLang="en-US"/>
              <a:t>笔异常，我们的评分引擎在 </a:t>
            </a:r>
            <a:r>
              <a:rPr lang="en-US" altLang="zh-CN"/>
              <a:t>303 </a:t>
            </a:r>
            <a:r>
              <a:rPr lang="zh-CN" altLang="en-US"/>
              <a:t>笔流水里恰好认出这 </a:t>
            </a:r>
            <a:r>
              <a:rPr lang="en-US" altLang="zh-CN"/>
              <a:t>4 </a:t>
            </a:r>
            <a:r>
              <a:rPr lang="zh-CN" altLang="en-US"/>
              <a:t>笔且没有误报</a:t>
            </a:r>
            <a:r>
              <a:rPr lang="en-US" altLang="zh-CN"/>
              <a:t>——</a:t>
            </a:r>
            <a:r>
              <a:rPr lang="zh-CN" altLang="en-US"/>
              <a:t>这说明识别能力是真的，不是照着标签念。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3429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【6:50-7:50】</a:t>
            </a:r>
            <a:r>
              <a:rPr lang="zh-CN" altLang="en-US"/>
              <a:t>演示环节（现场跑或放视频）。三个高光按顺序：拦截 → 多因子 → 跨场景。讲拦截时强调“它没有让我确认，是直接拦住了”；讲多因子时强调“两个因子没齐，确认按钮点不动”。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9312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【7:50-8:30】</a:t>
            </a:r>
            <a:r>
              <a:rPr lang="zh-CN" altLang="en-US"/>
              <a:t>这一页直接对着评分表讲，省评委时间。每一行都能在系统里当场验证，我也准备了自测清单：</a:t>
            </a:r>
            <a:r>
              <a:rPr lang="en-US" altLang="zh-CN"/>
              <a:t>329 </a:t>
            </a:r>
            <a:r>
              <a:rPr lang="zh-CN" altLang="en-US"/>
              <a:t>项断言 </a:t>
            </a:r>
            <a:r>
              <a:rPr lang="en-US" altLang="zh-CN"/>
              <a:t>+ </a:t>
            </a:r>
            <a:r>
              <a:rPr lang="zh-CN" altLang="en-US"/>
              <a:t>专项验证。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7612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【8:30-9:10】</a:t>
            </a:r>
            <a:r>
              <a:rPr lang="zh-CN" altLang="en-US"/>
              <a:t>这页是信任状。我们不做“演示专用逻辑”：金额变动都发生在真实账本上，每一条安全机制都有对应断言。评委可以现场抽查任何一条。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64708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【9:10-9:40】</a:t>
            </a:r>
            <a:r>
              <a:rPr lang="zh-CN" altLang="en-US"/>
              <a:t>讲落地时点明“只差数据源与执行通道”：风控规则、适当性、确认流程、留痕都已模块化，替换成本低，这也是我们能给银行带来的工程价值。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2654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【9:40-10:00】</a:t>
            </a:r>
            <a:r>
              <a:rPr lang="zh-CN" altLang="en-US"/>
              <a:t>收尾停在这句话上，然后停在“安全中心”操作日志页面，方便评委看留痕。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8690E2-4ACE-43C2-BAAC-762274EBCBB7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6872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701DC-06A3-F390-78E1-65524C7BB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2AED99-A7C3-D9D6-273F-EC7394B42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DD3E2-DFEB-6D94-0F0A-7CA4AE82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99604E-FEA6-689F-2FF8-3A45BE80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1D183B-2BF9-E8D6-8E48-441C0D597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6564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1133E6-18B2-2C27-B3E4-D3C0613C5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8563B8-F1F6-0CB1-D421-97B8D670B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F06CDE-1952-C300-7A7A-A3D15E65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928C3B-9BF7-CBD8-1975-6774E8EBD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F08CF7-4DF7-C7C4-359F-1281F837C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888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183DCD-C0C2-F8AD-92FA-246AE9B4B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A86C2D-B03C-302E-7759-2F0FA3D81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843F1D-DCA7-947F-8475-C0B42DC7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E5D4D2-CA48-EEBD-4B20-6EC3D2DBC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54065F-8653-CE94-001C-062D1E34C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4856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286259-8AE8-4C9E-6BD5-48317497B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8F766A-8A39-7FB7-6D64-09A452589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E8FA52-AB33-94D7-2B00-DFE105DA0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0805AE-187E-206B-D516-98671944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E1840C-F0B0-606C-4FE9-9339C1EA8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92FC3B-E46C-CA2B-B27D-E4219A65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234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8735ED-E004-A374-B02B-E603D17BF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D5077B-1F4E-FE85-F325-FFBB57B84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3440CC-9534-C1CC-31D0-499B736E4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E733265-1332-56F9-4958-8CD3BB8772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28632BE-D4A2-806B-8A55-02A7D45F8C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BCCEC82-4049-44A8-B37C-F06099DB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442596C-90E3-60B1-9E2B-2B59262C0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CAE3E9C-56CB-FEC9-CD91-F0B55ADF1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950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BF09F4-6EF5-BFD2-BB27-D21A1EBE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18988B6-C502-C738-9A6C-053CE3F33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1E72B9E-BE8D-8ED2-4259-C92470CD4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C74D22-ABBA-3B0F-CA58-DB3769DD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7374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5A81049-4F51-28ED-1C84-6A3D8ADE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ADF4438-78B7-7D11-A81C-CB48FB32A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E227A1-7850-9C3D-D361-13B305EFB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4129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7312E3-2201-EBB7-40A6-0AA89182C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AC3A9A-DED3-05B0-2F93-F23D433B7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7E48088-EF73-6A56-C8BA-7E8CF0201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FDE18A-36DD-3003-03EE-C60C03F0C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97D901-A15A-6965-A4F4-D77C77E64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6CCE97F-1CE8-9753-F564-5CC0594AB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1722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323FB9-4144-1887-D28B-85B4D3B78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024CBAC-D902-5CF2-A666-33198B9A2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676EF5-1BFF-FF85-9194-D0F3ACCAC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EF5BAA-5DB5-6735-9DE5-C311CDEE1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832AC66-5D3F-1C44-2B4C-78B84DF7D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6BD5F-F962-516C-3E97-6D7493AB9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1706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F07DEE-45D0-075E-3CAD-C40637DBE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987509-F8A3-88A0-057A-E07B67F3D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DE43DE-CB77-23D3-5BB3-B918FB99B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E226F5-51EA-BE45-9C89-71688BB6A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5F5D9C-0AB9-2036-D8F3-F12050F46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8145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C6128C-7CF9-08F2-20F0-B92B01241C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455F11-A02D-24EA-6209-FA8C0D4A4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809361-40D8-98EB-219E-1B5BD8654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18D5AB-F1C4-DA94-0DD5-BA1C48FB6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4061DF-BC23-C498-1017-D8ACC742B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022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9A3A095-1B36-9E8F-8674-C99119C48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2F17D3-F9F9-900D-06DF-7DD20E7A9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3EC8DD-F976-03B3-084F-BC18FCCAB4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22F503-1B7A-49E7-84E3-A31A5520663F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6C9F77-6F29-93EE-DB72-866F5175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ADC9CA-9975-4C50-E15F-80F917E419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30B3E-84D1-4F9E-BCCB-B7620D0196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874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8203BB6-098D-83B8-4705-50C525750334}"/>
              </a:ext>
            </a:extLst>
          </p:cNvPr>
          <p:cNvSpPr/>
          <p:nvPr/>
        </p:nvSpPr>
        <p:spPr>
          <a:xfrm>
            <a:off x="0" y="0"/>
            <a:ext cx="12192000" cy="31750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02502C-4589-3EE0-B3C3-CCB4BF4A5DF9}"/>
              </a:ext>
            </a:extLst>
          </p:cNvPr>
          <p:cNvSpPr txBox="1"/>
          <p:nvPr/>
        </p:nvSpPr>
        <p:spPr>
          <a:xfrm>
            <a:off x="889000" y="889000"/>
            <a:ext cx="10414000" cy="806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4000" b="1">
                <a:solidFill>
                  <a:srgbClr val="FFFFFF"/>
                </a:solidFill>
              </a:rPr>
              <a:t>银枢 </a:t>
            </a:r>
            <a:r>
              <a:rPr lang="en-US" altLang="zh-CN" sz="4000" b="1">
                <a:solidFill>
                  <a:srgbClr val="FFFFFF"/>
                </a:solidFill>
              </a:rPr>
              <a:t>· AI</a:t>
            </a:r>
            <a:r>
              <a:rPr lang="zh-CN" altLang="en-US" sz="4000" b="1">
                <a:solidFill>
                  <a:srgbClr val="FFFFFF"/>
                </a:solidFill>
              </a:rPr>
              <a:t>银行副驾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DE9846E-0773-294C-6090-82915B75F0AE}"/>
              </a:ext>
            </a:extLst>
          </p:cNvPr>
          <p:cNvSpPr txBox="1"/>
          <p:nvPr/>
        </p:nvSpPr>
        <p:spPr>
          <a:xfrm>
            <a:off x="914400" y="1778000"/>
            <a:ext cx="10160000" cy="39587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700">
                <a:solidFill>
                  <a:srgbClr val="E8F0FE"/>
                </a:solidFill>
              </a:rPr>
              <a:t>安全优先的智能金融助手 </a:t>
            </a:r>
            <a:r>
              <a:rPr lang="en-US" altLang="zh-CN" sz="1700">
                <a:solidFill>
                  <a:srgbClr val="E8F0FE"/>
                </a:solidFill>
              </a:rPr>
              <a:t>—— </a:t>
            </a:r>
            <a:r>
              <a:rPr lang="zh-CN" altLang="en-US" sz="1700">
                <a:solidFill>
                  <a:srgbClr val="E8F0FE"/>
                </a:solidFill>
              </a:rPr>
              <a:t>一句话办完业务，涉及钱的每一步都守得住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CBA9C8B-BFC0-C31E-CCAA-ACFB2D1C55A5}"/>
              </a:ext>
            </a:extLst>
          </p:cNvPr>
          <p:cNvSpPr txBox="1"/>
          <p:nvPr/>
        </p:nvSpPr>
        <p:spPr>
          <a:xfrm>
            <a:off x="914400" y="3619500"/>
            <a:ext cx="10414000" cy="3243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300">
                <a:solidFill>
                  <a:srgbClr val="667085"/>
                </a:solidFill>
              </a:rPr>
              <a:t>参赛团队：银枢小队　</a:t>
            </a:r>
            <a:r>
              <a:rPr lang="en-US" altLang="zh-CN" sz="1300">
                <a:solidFill>
                  <a:srgbClr val="667085"/>
                </a:solidFill>
              </a:rPr>
              <a:t>|</a:t>
            </a:r>
            <a:r>
              <a:rPr lang="zh-CN" altLang="en-US" sz="1300">
                <a:solidFill>
                  <a:srgbClr val="667085"/>
                </a:solidFill>
              </a:rPr>
              <a:t>　作品类型：银行 </a:t>
            </a:r>
            <a:r>
              <a:rPr lang="en-US" altLang="zh-CN" sz="1300">
                <a:solidFill>
                  <a:srgbClr val="667085"/>
                </a:solidFill>
              </a:rPr>
              <a:t>AI </a:t>
            </a:r>
            <a:r>
              <a:rPr lang="zh-CN" altLang="en-US" sz="1300">
                <a:solidFill>
                  <a:srgbClr val="667085"/>
                </a:solidFill>
              </a:rPr>
              <a:t>智能体（</a:t>
            </a:r>
            <a:r>
              <a:rPr lang="en-US" altLang="zh-CN" sz="1300">
                <a:solidFill>
                  <a:srgbClr val="667085"/>
                </a:solidFill>
              </a:rPr>
              <a:t>AI Banking Agent</a:t>
            </a:r>
            <a:r>
              <a:rPr lang="zh-CN" altLang="en-US" sz="1300">
                <a:solidFill>
                  <a:srgbClr val="667085"/>
                </a:solidFill>
              </a:rPr>
              <a:t>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97EDE8-5B68-182C-1127-E97C16217675}"/>
              </a:ext>
            </a:extLst>
          </p:cNvPr>
          <p:cNvSpPr/>
          <p:nvPr/>
        </p:nvSpPr>
        <p:spPr>
          <a:xfrm>
            <a:off x="914400" y="4254500"/>
            <a:ext cx="1143000" cy="63500"/>
          </a:xfrm>
          <a:prstGeom prst="rect">
            <a:avLst/>
          </a:prstGeom>
          <a:solidFill>
            <a:srgbClr val="0B4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CF2C05-F3C6-8BC9-3531-636A82F7BC2E}"/>
              </a:ext>
            </a:extLst>
          </p:cNvPr>
          <p:cNvSpPr txBox="1"/>
          <p:nvPr/>
        </p:nvSpPr>
        <p:spPr>
          <a:xfrm>
            <a:off x="914400" y="4635500"/>
            <a:ext cx="10414000" cy="342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400">
                <a:solidFill>
                  <a:srgbClr val="101828"/>
                </a:solidFill>
              </a:rPr>
              <a:t>赛题：构建银行 </a:t>
            </a:r>
            <a:r>
              <a:rPr lang="en-US" altLang="zh-CN" sz="1400">
                <a:solidFill>
                  <a:srgbClr val="101828"/>
                </a:solidFill>
              </a:rPr>
              <a:t>AI </a:t>
            </a:r>
            <a:r>
              <a:rPr lang="zh-CN" altLang="en-US" sz="1400">
                <a:solidFill>
                  <a:srgbClr val="101828"/>
                </a:solidFill>
              </a:rPr>
              <a:t>智能体，自主理解意图、规划任务链路，并在严格的安全框架内完成银行业务操作。</a:t>
            </a:r>
          </a:p>
        </p:txBody>
      </p:sp>
    </p:spTree>
    <p:extLst>
      <p:ext uri="{BB962C8B-B14F-4D97-AF65-F5344CB8AC3E}">
        <p14:creationId xmlns:p14="http://schemas.microsoft.com/office/powerpoint/2010/main" val="121889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61498BE-0804-52E2-8303-E989291162B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2842491-8F32-1BA0-6B25-80BA1323BCF8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赛题与痛点：为什么需要“有边界”的银行 </a:t>
            </a:r>
            <a:r>
              <a:rPr lang="en-US" altLang="zh-CN" sz="2200" b="1">
                <a:solidFill>
                  <a:srgbClr val="FFFFFF"/>
                </a:solidFill>
              </a:rPr>
              <a:t>Agent</a:t>
            </a:r>
            <a:endParaRPr lang="zh-CN" altLang="en-US" sz="2200" b="1">
              <a:solidFill>
                <a:srgbClr val="FFFFFF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B1F9D8-AFE9-4CEE-0827-5CB358894907}"/>
              </a:ext>
            </a:extLst>
          </p:cNvPr>
          <p:cNvSpPr txBox="1"/>
          <p:nvPr/>
        </p:nvSpPr>
        <p:spPr>
          <a:xfrm>
            <a:off x="508000" y="1092200"/>
            <a:ext cx="11176000" cy="216931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传统手机银行：入口深、路径长，一笔转账常常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步以上；用户找不到、不放心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风险防护弱：风险提示一划而过；适当性靠客户自己“点过确认”；诈骗事后才发现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通用大模型直接接银行：会“听话地”执行越权指令，幻觉与注入风险无法承受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我们的答案：把“风控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适当性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全程留痕”做进 </a:t>
            </a:r>
            <a:r>
              <a:rPr lang="en-US" altLang="zh-CN" sz="1500">
                <a:solidFill>
                  <a:srgbClr val="101828"/>
                </a:solidFill>
              </a:rPr>
              <a:t>Agent </a:t>
            </a:r>
            <a:r>
              <a:rPr lang="zh-CN" altLang="en-US" sz="1500">
                <a:solidFill>
                  <a:srgbClr val="101828"/>
                </a:solidFill>
              </a:rPr>
              <a:t>的运行时，让 </a:t>
            </a:r>
            <a:r>
              <a:rPr lang="en-US" altLang="zh-CN" sz="1500">
                <a:solidFill>
                  <a:srgbClr val="101828"/>
                </a:solidFill>
              </a:rPr>
              <a:t>AI </a:t>
            </a:r>
            <a:r>
              <a:rPr lang="zh-CN" altLang="en-US" sz="1500">
                <a:solidFill>
                  <a:srgbClr val="101828"/>
                </a:solidFill>
              </a:rPr>
              <a:t>能把事办完，但办不了不该办的事</a:t>
            </a:r>
          </a:p>
        </p:txBody>
      </p:sp>
    </p:spTree>
    <p:extLst>
      <p:ext uri="{BB962C8B-B14F-4D97-AF65-F5344CB8AC3E}">
        <p14:creationId xmlns:p14="http://schemas.microsoft.com/office/powerpoint/2010/main" val="2320927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E60396-B9F7-3819-974F-BA9E76CDC75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27AD5CC-2292-23F9-7957-6CF3CD198109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产品方案：六大核心场景（赛题鼓励全覆盖，我们全部落地）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AEA5EC8-30B1-139A-0FA1-3DD7F625F257}"/>
              </a:ext>
            </a:extLst>
          </p:cNvPr>
          <p:cNvSpPr txBox="1"/>
          <p:nvPr/>
        </p:nvSpPr>
        <p:spPr>
          <a:xfrm>
            <a:off x="508000" y="1092200"/>
            <a:ext cx="11176000" cy="33696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智能转账：按人名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称谓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手机号尾号找收款人；转账前展示收款人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开户行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金额；定时转账、</a:t>
            </a:r>
            <a:r>
              <a:rPr lang="en-US" altLang="zh-CN" sz="1500">
                <a:solidFill>
                  <a:srgbClr val="101828"/>
                </a:solidFill>
              </a:rPr>
              <a:t>AA </a:t>
            </a:r>
            <a:r>
              <a:rPr lang="zh-CN" altLang="en-US" sz="1500">
                <a:solidFill>
                  <a:srgbClr val="101828"/>
                </a:solidFill>
              </a:rPr>
              <a:t>拆分、</a:t>
            </a:r>
            <a:r>
              <a:rPr lang="en-US" altLang="zh-CN" sz="1500">
                <a:solidFill>
                  <a:srgbClr val="101828"/>
                </a:solidFill>
              </a:rPr>
              <a:t>T+0 </a:t>
            </a:r>
            <a:r>
              <a:rPr lang="zh-CN" altLang="en-US" sz="1500">
                <a:solidFill>
                  <a:srgbClr val="101828"/>
                </a:solidFill>
              </a:rPr>
              <a:t>撤销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账单分析：分类统计、环比、消费时段；年度报告；评分制异常识别（深夜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异地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境外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金额突增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超大额）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理财操作：</a:t>
            </a:r>
            <a:r>
              <a:rPr lang="en-US" altLang="zh-CN" sz="1500">
                <a:solidFill>
                  <a:srgbClr val="101828"/>
                </a:solidFill>
              </a:rPr>
              <a:t>5 </a:t>
            </a:r>
            <a:r>
              <a:rPr lang="zh-CN" altLang="en-US" sz="1500">
                <a:solidFill>
                  <a:srgbClr val="101828"/>
                </a:solidFill>
              </a:rPr>
              <a:t>题风险测评 → 适当性过滤 → 推荐对比 → 一键申购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赎回（含风险提示朗读）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卡片管理：实体卡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虚拟卡申请、额度调整、交易限额、冻结解冻、挂失与解挂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订阅管理：从流水自动识别周期性扣费、续费倒计时提醒、一键取消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跨场景联动：一句话安排生日 → 主动补问 → 当月锁定资金 → 生日前 </a:t>
            </a:r>
            <a:r>
              <a:rPr lang="en-US" altLang="zh-CN" sz="1500">
                <a:solidFill>
                  <a:srgbClr val="101828"/>
                </a:solidFill>
              </a:rPr>
              <a:t>2 </a:t>
            </a:r>
            <a:r>
              <a:rPr lang="zh-CN" altLang="en-US" sz="1500">
                <a:solidFill>
                  <a:srgbClr val="101828"/>
                </a:solidFill>
              </a:rPr>
              <a:t>天自动下单 → 生成提醒</a:t>
            </a:r>
          </a:p>
        </p:txBody>
      </p:sp>
    </p:spTree>
    <p:extLst>
      <p:ext uri="{BB962C8B-B14F-4D97-AF65-F5344CB8AC3E}">
        <p14:creationId xmlns:p14="http://schemas.microsoft.com/office/powerpoint/2010/main" val="1380944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1699CDB-4748-4B5B-B299-2E0C6370E6D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775603F-9D0B-0E99-B46F-05F10E3D28D1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交付形态：</a:t>
            </a:r>
            <a:r>
              <a:rPr lang="en-US" altLang="zh-CN" sz="2200" b="1">
                <a:solidFill>
                  <a:srgbClr val="FFFFFF"/>
                </a:solidFill>
              </a:rPr>
              <a:t>APP </a:t>
            </a:r>
            <a:r>
              <a:rPr lang="zh-CN" altLang="en-US" sz="2200" b="1">
                <a:solidFill>
                  <a:srgbClr val="FFFFFF"/>
                </a:solidFill>
              </a:rPr>
              <a:t>主界面 </a:t>
            </a:r>
            <a:r>
              <a:rPr lang="en-US" altLang="zh-CN" sz="2200" b="1">
                <a:solidFill>
                  <a:srgbClr val="FFFFFF"/>
                </a:solidFill>
              </a:rPr>
              <a:t>+ IM </a:t>
            </a:r>
            <a:r>
              <a:rPr lang="zh-CN" altLang="en-US" sz="2200" b="1">
                <a:solidFill>
                  <a:srgbClr val="FFFFFF"/>
                </a:solidFill>
              </a:rPr>
              <a:t>渠道，同一套 </a:t>
            </a:r>
            <a:r>
              <a:rPr lang="en-US" altLang="zh-CN" sz="2200" b="1">
                <a:solidFill>
                  <a:srgbClr val="FFFFFF"/>
                </a:solidFill>
              </a:rPr>
              <a:t>Agent </a:t>
            </a:r>
            <a:r>
              <a:rPr lang="zh-CN" altLang="en-US" sz="2200" b="1">
                <a:solidFill>
                  <a:srgbClr val="FFFFFF"/>
                </a:solidFill>
              </a:rPr>
              <a:t>内核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490740-3622-3969-4386-660033999C63}"/>
              </a:ext>
            </a:extLst>
          </p:cNvPr>
          <p:cNvSpPr txBox="1"/>
          <p:nvPr/>
        </p:nvSpPr>
        <p:spPr>
          <a:xfrm>
            <a:off x="508000" y="1092200"/>
            <a:ext cx="11176000" cy="216931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左侧智能对话：思考过程可见（理解意图 → 任务规划 → 调用工具 → 结果反馈），每步可展开“为什么这么做”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右侧仿真手机银行：卡片、账单异常、订阅代扣、理财持仓、卡片业务随对话实时联动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待确认卡片：展示关键信息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分级标识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风险提示朗读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取消入口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IM </a:t>
            </a:r>
            <a:r>
              <a:rPr lang="zh-CN" altLang="en-US" sz="1500">
                <a:solidFill>
                  <a:srgbClr val="101828"/>
                </a:solidFill>
              </a:rPr>
              <a:t>渠道演示：企业 </a:t>
            </a:r>
            <a:r>
              <a:rPr lang="en-US" altLang="zh-CN" sz="1500">
                <a:solidFill>
                  <a:srgbClr val="101828"/>
                </a:solidFill>
              </a:rPr>
              <a:t>IM </a:t>
            </a:r>
            <a:r>
              <a:rPr lang="zh-CN" altLang="en-US" sz="1500">
                <a:solidFill>
                  <a:srgbClr val="101828"/>
                </a:solidFill>
              </a:rPr>
              <a:t>文本通道接入同一内核（查询直接答、黄色操作文本确认、红色操作引导去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完成现场因子）</a:t>
            </a:r>
          </a:p>
        </p:txBody>
      </p:sp>
    </p:spTree>
    <p:extLst>
      <p:ext uri="{BB962C8B-B14F-4D97-AF65-F5344CB8AC3E}">
        <p14:creationId xmlns:p14="http://schemas.microsoft.com/office/powerpoint/2010/main" val="112042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9897DBB-8CA8-94FE-DB4D-BD14616D6FDB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71017B-EB0B-D8B0-013E-C9635C4BB013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安全体系①：三级权限分级（绿 </a:t>
            </a:r>
            <a:r>
              <a:rPr lang="en-US" altLang="zh-CN" sz="2200" b="1">
                <a:solidFill>
                  <a:srgbClr val="FFFFFF"/>
                </a:solidFill>
              </a:rPr>
              <a:t>/ </a:t>
            </a:r>
            <a:r>
              <a:rPr lang="zh-CN" altLang="en-US" sz="2200" b="1">
                <a:solidFill>
                  <a:srgbClr val="FFFFFF"/>
                </a:solidFill>
              </a:rPr>
              <a:t>黄 </a:t>
            </a:r>
            <a:r>
              <a:rPr lang="en-US" altLang="zh-CN" sz="2200" b="1">
                <a:solidFill>
                  <a:srgbClr val="FFFFFF"/>
                </a:solidFill>
              </a:rPr>
              <a:t>/ </a:t>
            </a:r>
            <a:r>
              <a:rPr lang="zh-CN" altLang="en-US" sz="2200" b="1">
                <a:solidFill>
                  <a:srgbClr val="FFFFFF"/>
                </a:solidFill>
              </a:rPr>
              <a:t>红）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667F7-DDEC-447A-9560-565D75F6EBB6}"/>
              </a:ext>
            </a:extLst>
          </p:cNvPr>
          <p:cNvSpPr txBox="1"/>
          <p:nvPr/>
        </p:nvSpPr>
        <p:spPr>
          <a:xfrm>
            <a:off x="508000" y="1092200"/>
            <a:ext cx="11176000" cy="27694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🟢 绿色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自动执行：余额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明细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账单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订阅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持仓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收益查询、风控预检 </a:t>
            </a:r>
            <a:r>
              <a:rPr lang="en-US" altLang="zh-CN" sz="1500">
                <a:solidFill>
                  <a:srgbClr val="101828"/>
                </a:solidFill>
              </a:rPr>
              <a:t>—— </a:t>
            </a:r>
            <a:r>
              <a:rPr lang="zh-CN" altLang="en-US" sz="1500">
                <a:solidFill>
                  <a:srgbClr val="101828"/>
                </a:solidFill>
              </a:rPr>
              <a:t>确认意图后直接执行，写审计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🟡 黄色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用户确认：小额转账（当日累计 ≤ </a:t>
            </a:r>
            <a:r>
              <a:rPr lang="en-US" altLang="zh-CN" sz="1500">
                <a:solidFill>
                  <a:srgbClr val="101828"/>
                </a:solidFill>
              </a:rPr>
              <a:t>¥1,000</a:t>
            </a:r>
            <a:r>
              <a:rPr lang="zh-CN" altLang="en-US" sz="1500">
                <a:solidFill>
                  <a:srgbClr val="101828"/>
                </a:solidFill>
              </a:rPr>
              <a:t>）、订阅取消、虚拟卡申请、限额调整、冻结解冻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🔴 红色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多因子强验证：大额转账（当日累计 </a:t>
            </a:r>
            <a:r>
              <a:rPr lang="en-US" altLang="zh-CN" sz="1500">
                <a:solidFill>
                  <a:srgbClr val="101828"/>
                </a:solidFill>
              </a:rPr>
              <a:t>&gt; ¥1,000</a:t>
            </a:r>
            <a:r>
              <a:rPr lang="zh-CN" altLang="en-US" sz="1500">
                <a:solidFill>
                  <a:srgbClr val="101828"/>
                </a:solidFill>
              </a:rPr>
              <a:t>）、交易密码修改、挂失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解挂、理财申购赎回、额度调整 </a:t>
            </a:r>
            <a:r>
              <a:rPr lang="en-US" altLang="zh-CN" sz="1500">
                <a:solidFill>
                  <a:srgbClr val="101828"/>
                </a:solidFill>
              </a:rPr>
              <a:t>—— </a:t>
            </a:r>
            <a:r>
              <a:rPr lang="zh-CN" altLang="en-US" sz="1500">
                <a:solidFill>
                  <a:srgbClr val="101828"/>
                </a:solidFill>
              </a:rPr>
              <a:t>需短信验证码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人脸识别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关键设计：判定不通过时不生成确认入口；红色操作不允许在对话里用“确认”代替；阈值与因子集中在配置层，可随行内策略调整</a:t>
            </a:r>
          </a:p>
        </p:txBody>
      </p:sp>
    </p:spTree>
    <p:extLst>
      <p:ext uri="{BB962C8B-B14F-4D97-AF65-F5344CB8AC3E}">
        <p14:creationId xmlns:p14="http://schemas.microsoft.com/office/powerpoint/2010/main" val="996013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71DF24A-AF7E-0FF2-822B-7D9E46430139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F5000BB-20C3-5AFA-C903-73B4C3165321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安全体系②：五大机制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风控规则引擎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注入防御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异常熔断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8F1193-302A-6882-BFBF-62E7B0BCC0CD}"/>
              </a:ext>
            </a:extLst>
          </p:cNvPr>
          <p:cNvSpPr txBox="1"/>
          <p:nvPr/>
        </p:nvSpPr>
        <p:spPr>
          <a:xfrm>
            <a:off x="508000" y="1092200"/>
            <a:ext cx="11176000" cy="33696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风控规则引擎（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条）：收款人白名单、涉诈黑名单（阻断级）、金额阈值、夜间大额、整数大额、余额不足、单笔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日累计限额、收款人不存在、高风险话术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适当性管理：测评等级不匹配即拒绝，推荐里不会出现高风险产品，拒绝动作同样写审计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全程留痕：成功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未就绪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失败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拒绝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取消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未识别意图六类全部入库，并记录完整决策链路（规划 → 工具调用）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注入防御：识别 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类越权诱导（忽略指令、跳过确认、免验证、伪造系统消息</a:t>
            </a:r>
            <a:r>
              <a:rPr lang="en-US" altLang="zh-CN" sz="1500">
                <a:solidFill>
                  <a:srgbClr val="101828"/>
                </a:solidFill>
              </a:rPr>
              <a:t>…</a:t>
            </a:r>
            <a:r>
              <a:rPr lang="zh-CN" altLang="en-US" sz="1500">
                <a:solidFill>
                  <a:srgbClr val="101828"/>
                </a:solidFill>
              </a:rPr>
              <a:t>）→ 告警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安全审计，且结构上无绕过路径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异常熔断：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分钟内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次失败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可疑行为 → 锁定全部红色操作 </a:t>
            </a:r>
            <a:r>
              <a:rPr lang="en-US" altLang="zh-CN" sz="1500">
                <a:solidFill>
                  <a:srgbClr val="101828"/>
                </a:solidFill>
              </a:rPr>
              <a:t>5 </a:t>
            </a:r>
            <a:r>
              <a:rPr lang="zh-CN" altLang="en-US" sz="1500">
                <a:solidFill>
                  <a:srgbClr val="101828"/>
                </a:solidFill>
              </a:rPr>
              <a:t>分钟；沙箱声明：运行时不执行任何动态代码，能力来自工具白名单</a:t>
            </a:r>
          </a:p>
        </p:txBody>
      </p:sp>
    </p:spTree>
    <p:extLst>
      <p:ext uri="{BB962C8B-B14F-4D97-AF65-F5344CB8AC3E}">
        <p14:creationId xmlns:p14="http://schemas.microsoft.com/office/powerpoint/2010/main" val="891754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E5875E-FA6E-30A0-A19A-45A58C20F4BA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CC9802-C020-FAB9-9D5E-6CF02B461021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技术架构：五层职责分离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0624053-388B-92E9-FA8B-2967F3D8A4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16000"/>
            <a:ext cx="11176000" cy="4826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17A86E9-4941-9CD6-8021-06B4D949713A}"/>
              </a:ext>
            </a:extLst>
          </p:cNvPr>
          <p:cNvSpPr txBox="1"/>
          <p:nvPr/>
        </p:nvSpPr>
        <p:spPr>
          <a:xfrm>
            <a:off x="508000" y="5969000"/>
            <a:ext cx="11176000" cy="3243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300">
                <a:solidFill>
                  <a:srgbClr val="101828"/>
                </a:solidFill>
              </a:rPr>
              <a:t>意图层只做规划不改数据；工具层 </a:t>
            </a:r>
            <a:r>
              <a:rPr lang="en-US" altLang="zh-CN" sz="1300">
                <a:solidFill>
                  <a:srgbClr val="101828"/>
                </a:solidFill>
              </a:rPr>
              <a:t>30 </a:t>
            </a:r>
            <a:r>
              <a:rPr lang="zh-CN" altLang="en-US" sz="1300">
                <a:solidFill>
                  <a:srgbClr val="101828"/>
                </a:solidFill>
              </a:rPr>
              <a:t>个能力逐项声明风险；门禁层决定能不能做；动作层是唯一动资金的地方；审计层记录发生了什么</a:t>
            </a:r>
          </a:p>
        </p:txBody>
      </p:sp>
    </p:spTree>
    <p:extLst>
      <p:ext uri="{BB962C8B-B14F-4D97-AF65-F5344CB8AC3E}">
        <p14:creationId xmlns:p14="http://schemas.microsoft.com/office/powerpoint/2010/main" val="3644508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655C3D9-0A4A-AB72-1019-B1D7F48E4C2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37636BD-FFD0-C564-B8C0-1C1423AF9CFC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核心技术点：为什么这不是“套壳对话”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C79F17-5BA8-780A-F646-44C5D0AA9E97}"/>
              </a:ext>
            </a:extLst>
          </p:cNvPr>
          <p:cNvSpPr txBox="1"/>
          <p:nvPr/>
        </p:nvSpPr>
        <p:spPr>
          <a:xfrm>
            <a:off x="508000" y="1092200"/>
            <a:ext cx="11176000" cy="27694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可解释意图路由：优先级匹配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证据化匹配度（金额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时间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分类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收款人线索逐条给出），不做“凭空 </a:t>
            </a:r>
            <a:r>
              <a:rPr lang="en-US" altLang="zh-CN" sz="1500">
                <a:solidFill>
                  <a:srgbClr val="101828"/>
                </a:solidFill>
              </a:rPr>
              <a:t>95% </a:t>
            </a:r>
            <a:r>
              <a:rPr lang="zh-CN" altLang="en-US" sz="1500">
                <a:solidFill>
                  <a:srgbClr val="101828"/>
                </a:solidFill>
              </a:rPr>
              <a:t>置信度”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能力降级与上下文承接：能力未上线时显式降级并说明；跨轮追问能承接上文，同时不允许劫持无关提问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评分制异常识别：多特征加权（深夜</a:t>
            </a:r>
            <a:r>
              <a:rPr lang="en-US" altLang="zh-CN" sz="1500">
                <a:solidFill>
                  <a:srgbClr val="101828"/>
                </a:solidFill>
              </a:rPr>
              <a:t>+30</a:t>
            </a:r>
            <a:r>
              <a:rPr lang="zh-CN" altLang="en-US" sz="1500">
                <a:solidFill>
                  <a:srgbClr val="101828"/>
                </a:solidFill>
              </a:rPr>
              <a:t>、异地</a:t>
            </a:r>
            <a:r>
              <a:rPr lang="en-US" altLang="zh-CN" sz="1500">
                <a:solidFill>
                  <a:srgbClr val="101828"/>
                </a:solidFill>
              </a:rPr>
              <a:t>+25</a:t>
            </a:r>
            <a:r>
              <a:rPr lang="zh-CN" altLang="en-US" sz="1500">
                <a:solidFill>
                  <a:srgbClr val="101828"/>
                </a:solidFill>
              </a:rPr>
              <a:t>、突增</a:t>
            </a:r>
            <a:r>
              <a:rPr lang="en-US" altLang="zh-CN" sz="1500">
                <a:solidFill>
                  <a:srgbClr val="101828"/>
                </a:solidFill>
              </a:rPr>
              <a:t>+35…</a:t>
            </a:r>
            <a:r>
              <a:rPr lang="zh-CN" altLang="en-US" sz="1500">
                <a:solidFill>
                  <a:srgbClr val="101828"/>
                </a:solidFill>
              </a:rPr>
              <a:t>）≥</a:t>
            </a:r>
            <a:r>
              <a:rPr lang="en-US" altLang="zh-CN" sz="1500">
                <a:solidFill>
                  <a:srgbClr val="101828"/>
                </a:solidFill>
              </a:rPr>
              <a:t>40 </a:t>
            </a:r>
            <a:r>
              <a:rPr lang="zh-CN" altLang="en-US" sz="1500">
                <a:solidFill>
                  <a:srgbClr val="101828"/>
                </a:solidFill>
              </a:rPr>
              <a:t>分告警，独立复现数据中 </a:t>
            </a:r>
            <a:r>
              <a:rPr lang="en-US" altLang="zh-CN" sz="1500">
                <a:solidFill>
                  <a:srgbClr val="101828"/>
                </a:solidFill>
              </a:rPr>
              <a:t>4 </a:t>
            </a:r>
            <a:r>
              <a:rPr lang="zh-CN" altLang="en-US" sz="1500">
                <a:solidFill>
                  <a:srgbClr val="101828"/>
                </a:solidFill>
              </a:rPr>
              <a:t>笔预埋异常、零误报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动作层状态机：</a:t>
            </a:r>
            <a:r>
              <a:rPr lang="en-US" altLang="zh-CN" sz="1500">
                <a:solidFill>
                  <a:srgbClr val="101828"/>
                </a:solidFill>
              </a:rPr>
              <a:t>pending → done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cancelled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expired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locked</a:t>
            </a:r>
            <a:r>
              <a:rPr lang="zh-CN" altLang="en-US" sz="1500">
                <a:solidFill>
                  <a:srgbClr val="101828"/>
                </a:solidFill>
              </a:rPr>
              <a:t>；未确认不动钱、执行前二次校验、防重放、可取消可回退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任务 </a:t>
            </a:r>
            <a:r>
              <a:rPr lang="en-US" altLang="zh-CN" sz="1500">
                <a:solidFill>
                  <a:srgbClr val="101828"/>
                </a:solidFill>
              </a:rPr>
              <a:t>DAG </a:t>
            </a:r>
            <a:r>
              <a:rPr lang="zh-CN" altLang="en-US" sz="1500">
                <a:solidFill>
                  <a:srgbClr val="101828"/>
                </a:solidFill>
              </a:rPr>
              <a:t>拆解：复杂请求拆成带依赖的子任务，按拓扑波次执行并在界面展示（如“第 </a:t>
            </a:r>
            <a:r>
              <a:rPr lang="en-US" altLang="zh-CN" sz="1500">
                <a:solidFill>
                  <a:srgbClr val="101828"/>
                </a:solidFill>
              </a:rPr>
              <a:t>1 </a:t>
            </a:r>
            <a:r>
              <a:rPr lang="zh-CN" altLang="en-US" sz="1500">
                <a:solidFill>
                  <a:srgbClr val="101828"/>
                </a:solidFill>
              </a:rPr>
              <a:t>波并行：账单分析 </a:t>
            </a:r>
            <a:r>
              <a:rPr lang="en-US" altLang="zh-CN" sz="1500">
                <a:solidFill>
                  <a:srgbClr val="101828"/>
                </a:solidFill>
              </a:rPr>
              <a:t>‖ </a:t>
            </a:r>
            <a:r>
              <a:rPr lang="zh-CN" altLang="en-US" sz="1500">
                <a:solidFill>
                  <a:srgbClr val="101828"/>
                </a:solidFill>
              </a:rPr>
              <a:t>异常识别”）</a:t>
            </a:r>
          </a:p>
        </p:txBody>
      </p:sp>
    </p:spTree>
    <p:extLst>
      <p:ext uri="{BB962C8B-B14F-4D97-AF65-F5344CB8AC3E}">
        <p14:creationId xmlns:p14="http://schemas.microsoft.com/office/powerpoint/2010/main" val="2175615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9215811-3AD5-7841-2C7F-2E97F4A4E2C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CB38BC4-7353-C8C9-662C-12BB832F63F9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现场演示高光：风控拦截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多因子确认</a:t>
            </a:r>
          </a:p>
        </p:txBody>
      </p:sp>
    </p:spTree>
    <p:extLst>
      <p:ext uri="{BB962C8B-B14F-4D97-AF65-F5344CB8AC3E}">
        <p14:creationId xmlns:p14="http://schemas.microsoft.com/office/powerpoint/2010/main" val="1559896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268D36-A5F1-ABC2-2527-7466036A586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217C6AE-4836-42E9-8654-8E55552CE0C0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赛题对齐：逐条响应核心技术要求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B6528E-6655-88D4-7A86-17C28A2750AF}"/>
              </a:ext>
            </a:extLst>
          </p:cNvPr>
          <p:cNvSpPr txBox="1"/>
          <p:nvPr/>
        </p:nvSpPr>
        <p:spPr>
          <a:xfrm>
            <a:off x="508000" y="1092200"/>
            <a:ext cx="11176000" cy="33679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权限分级（高）：✅ 绿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黄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红三级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当日累计 </a:t>
            </a:r>
            <a:r>
              <a:rPr lang="en-US" altLang="zh-CN" sz="1500">
                <a:solidFill>
                  <a:srgbClr val="101828"/>
                </a:solidFill>
              </a:rPr>
              <a:t>¥1,000 </a:t>
            </a:r>
            <a:r>
              <a:rPr lang="zh-CN" altLang="en-US" sz="1500">
                <a:solidFill>
                  <a:srgbClr val="101828"/>
                </a:solidFill>
              </a:rPr>
              <a:t>口径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多因子（短信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人脸可替换行内 </a:t>
            </a:r>
            <a:r>
              <a:rPr lang="en-US" altLang="zh-CN" sz="1500">
                <a:solidFill>
                  <a:srgbClr val="101828"/>
                </a:solidFill>
              </a:rPr>
              <a:t>SDK</a:t>
            </a:r>
            <a:r>
              <a:rPr lang="zh-CN" altLang="en-US" sz="1500">
                <a:solidFill>
                  <a:srgbClr val="101828"/>
                </a:solidFill>
              </a:rPr>
              <a:t>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安全机制（高）：✅ 幻觉防护（数据只来自工具返回）｜✅ 注入防御｜✅ 操作审计含决策链路｜✅ 异常熔断｜✅ 无动态代码执行的沙箱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意图理解与任务规划：✅ 模糊表达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省略上下文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隐含意图｜✅ 子任务 </a:t>
            </a:r>
            <a:r>
              <a:rPr lang="en-US" altLang="zh-CN" sz="1500">
                <a:solidFill>
                  <a:srgbClr val="101828"/>
                </a:solidFill>
              </a:rPr>
              <a:t>DAG</a:t>
            </a:r>
            <a:r>
              <a:rPr lang="zh-CN" altLang="en-US" sz="1500">
                <a:solidFill>
                  <a:srgbClr val="101828"/>
                </a:solidFill>
              </a:rPr>
              <a:t>｜✅ 中断（取消确认）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回退（回退上一步）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人工接管（转人工工单）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场景覆盖：✅ 赛题 </a:t>
            </a:r>
            <a:r>
              <a:rPr lang="en-US" altLang="zh-CN" sz="1500">
                <a:solidFill>
                  <a:srgbClr val="101828"/>
                </a:solidFill>
              </a:rPr>
              <a:t>6 </a:t>
            </a:r>
            <a:r>
              <a:rPr lang="zh-CN" altLang="en-US" sz="1500">
                <a:solidFill>
                  <a:srgbClr val="101828"/>
                </a:solidFill>
              </a:rPr>
              <a:t>个场景全部落地（要求至少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个）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渠道：✅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主界面 </a:t>
            </a:r>
            <a:r>
              <a:rPr lang="en-US" altLang="zh-CN" sz="1500">
                <a:solidFill>
                  <a:srgbClr val="101828"/>
                </a:solidFill>
              </a:rPr>
              <a:t>+ IM </a:t>
            </a:r>
            <a:r>
              <a:rPr lang="zh-CN" altLang="en-US" sz="1500">
                <a:solidFill>
                  <a:srgbClr val="101828"/>
                </a:solidFill>
              </a:rPr>
              <a:t>文本通道（红色操作引导回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完成现场因子）</a:t>
            </a:r>
          </a:p>
        </p:txBody>
      </p:sp>
    </p:spTree>
    <p:extLst>
      <p:ext uri="{BB962C8B-B14F-4D97-AF65-F5344CB8AC3E}">
        <p14:creationId xmlns:p14="http://schemas.microsoft.com/office/powerpoint/2010/main" val="3752220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31A7BC4-003C-2FE0-CADD-AD76F98C1749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653EEA-487C-6009-81E6-9683F810DFB4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验证与质量：把“合规”变成“可验证”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DBC6C99-798B-980F-1FEE-1B61C95D5B26}"/>
              </a:ext>
            </a:extLst>
          </p:cNvPr>
          <p:cNvSpPr txBox="1"/>
          <p:nvPr/>
        </p:nvSpPr>
        <p:spPr>
          <a:xfrm>
            <a:off x="508000" y="1092200"/>
            <a:ext cx="11176000" cy="306955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自动化验收：</a:t>
            </a:r>
            <a:r>
              <a:rPr lang="en-US" altLang="zh-CN" sz="1500">
                <a:solidFill>
                  <a:srgbClr val="101828"/>
                </a:solidFill>
              </a:rPr>
              <a:t>selftest 329 </a:t>
            </a:r>
            <a:r>
              <a:rPr lang="zh-CN" altLang="en-US" sz="1500">
                <a:solidFill>
                  <a:srgbClr val="101828"/>
                </a:solidFill>
              </a:rPr>
              <a:t>项 ✅｜真实链路与持久化专项 </a:t>
            </a:r>
            <a:r>
              <a:rPr lang="en-US" altLang="zh-CN" sz="1500">
                <a:solidFill>
                  <a:srgbClr val="101828"/>
                </a:solidFill>
              </a:rPr>
              <a:t>20 </a:t>
            </a:r>
            <a:r>
              <a:rPr lang="zh-CN" altLang="en-US" sz="1500">
                <a:solidFill>
                  <a:srgbClr val="101828"/>
                </a:solidFill>
              </a:rPr>
              <a:t>项 ✅｜六场景彩排 </a:t>
            </a:r>
            <a:r>
              <a:rPr lang="en-US" altLang="zh-CN" sz="1500">
                <a:solidFill>
                  <a:srgbClr val="101828"/>
                </a:solidFill>
              </a:rPr>
              <a:t>25 </a:t>
            </a:r>
            <a:r>
              <a:rPr lang="zh-CN" altLang="en-US" sz="1500">
                <a:solidFill>
                  <a:srgbClr val="101828"/>
                </a:solidFill>
              </a:rPr>
              <a:t>项 ✅｜安全探针（穿越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注入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泄露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监听面）全通过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数据真落盘：用独立进程读取磁盘文件证明持久化；服务重启后审计编号连续、台账与对话完整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不依赖预埋标记：异常识别独立复现全部 </a:t>
            </a:r>
            <a:r>
              <a:rPr lang="en-US" altLang="zh-CN" sz="1500">
                <a:solidFill>
                  <a:srgbClr val="101828"/>
                </a:solidFill>
              </a:rPr>
              <a:t>4 </a:t>
            </a:r>
            <a:r>
              <a:rPr lang="zh-CN" altLang="en-US" sz="1500">
                <a:solidFill>
                  <a:srgbClr val="101828"/>
                </a:solidFill>
              </a:rPr>
              <a:t>笔埋点且零误报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未确认不动钱：断言覆盖“生成待确认单余额不变”“取消后余额不变”“熔断期间即使因子正确也不放行”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演示可复现：一键彩排脚本按演示顺序跑完六场景并计时，预计现场总时长约 </a:t>
            </a:r>
            <a:r>
              <a:rPr lang="en-US" altLang="zh-CN" sz="1500">
                <a:solidFill>
                  <a:srgbClr val="101828"/>
                </a:solidFill>
              </a:rPr>
              <a:t>180 </a:t>
            </a:r>
            <a:r>
              <a:rPr lang="zh-CN" altLang="en-US" sz="1500">
                <a:solidFill>
                  <a:srgbClr val="101828"/>
                </a:solidFill>
              </a:rPr>
              <a:t>秒</a:t>
            </a:r>
          </a:p>
        </p:txBody>
      </p:sp>
    </p:spTree>
    <p:extLst>
      <p:ext uri="{BB962C8B-B14F-4D97-AF65-F5344CB8AC3E}">
        <p14:creationId xmlns:p14="http://schemas.microsoft.com/office/powerpoint/2010/main" val="1337275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DD09A15-8959-907D-32E4-AF0CAA761FF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671E2E0-9231-3232-F834-1E291D0C904F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落地价值与路径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5184DC-BF4D-3213-A0E3-2347EA438F7A}"/>
              </a:ext>
            </a:extLst>
          </p:cNvPr>
          <p:cNvSpPr txBox="1"/>
          <p:nvPr/>
        </p:nvSpPr>
        <p:spPr>
          <a:xfrm>
            <a:off x="508000" y="1092200"/>
            <a:ext cx="11176000" cy="246939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对客户：把“找入口、填表单、读条款”压缩成一句话；同时避免被诈骗话术与高风险产品伤害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对银行：降低柜面与客服压力、提升年轻客群活跃度；把制度里的风控与适当性要求落成可运行、可审计的系统能力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能力可复用：适当性引擎（理财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代销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保险）、操作留痕与质检、账单洞察、以及作为行内其他 </a:t>
            </a:r>
            <a:r>
              <a:rPr lang="en-US" altLang="zh-CN" sz="1500">
                <a:solidFill>
                  <a:srgbClr val="101828"/>
                </a:solidFill>
              </a:rPr>
              <a:t>Agent </a:t>
            </a:r>
            <a:r>
              <a:rPr lang="zh-CN" altLang="en-US" sz="1500">
                <a:solidFill>
                  <a:srgbClr val="101828"/>
                </a:solidFill>
              </a:rPr>
              <a:t>的安全底座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落地路径：①数据源替换（沙箱 → 行内账户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产品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反诈名单）②执行通道替换（动作层 → 核心系统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开放平台）③模型合规接入（私有化）④策略运营（规则与阈值集中在配置层）</a:t>
            </a:r>
          </a:p>
        </p:txBody>
      </p:sp>
    </p:spTree>
    <p:extLst>
      <p:ext uri="{BB962C8B-B14F-4D97-AF65-F5344CB8AC3E}">
        <p14:creationId xmlns:p14="http://schemas.microsoft.com/office/powerpoint/2010/main" val="2018662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9AD7D23-AB88-22A3-1623-A67EDDD7183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2E44186-C07E-4062-7FEA-E75906A7221A}"/>
              </a:ext>
            </a:extLst>
          </p:cNvPr>
          <p:cNvSpPr txBox="1"/>
          <p:nvPr/>
        </p:nvSpPr>
        <p:spPr>
          <a:xfrm>
            <a:off x="889000" y="2667000"/>
            <a:ext cx="10414000" cy="59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800" b="1">
                <a:solidFill>
                  <a:srgbClr val="FFFFFF"/>
                </a:solidFill>
              </a:rPr>
              <a:t>该拦的拦得住，该拒的拒得掉，该办的一步到位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2CE5D6-CB21-B36E-8279-A0684F35472C}"/>
              </a:ext>
            </a:extLst>
          </p:cNvPr>
          <p:cNvSpPr txBox="1"/>
          <p:nvPr/>
        </p:nvSpPr>
        <p:spPr>
          <a:xfrm>
            <a:off x="914400" y="3937000"/>
            <a:ext cx="10414000" cy="37798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600">
                <a:solidFill>
                  <a:srgbClr val="E8F0FE"/>
                </a:solidFill>
              </a:rPr>
              <a:t>银枢 </a:t>
            </a:r>
            <a:r>
              <a:rPr lang="en-US" altLang="zh-CN" sz="1600">
                <a:solidFill>
                  <a:srgbClr val="E8F0FE"/>
                </a:solidFill>
              </a:rPr>
              <a:t>· AI</a:t>
            </a:r>
            <a:r>
              <a:rPr lang="zh-CN" altLang="en-US" sz="1600">
                <a:solidFill>
                  <a:srgbClr val="E8F0FE"/>
                </a:solidFill>
              </a:rPr>
              <a:t>银行副驾　</a:t>
            </a:r>
            <a:r>
              <a:rPr lang="en-US" altLang="zh-CN" sz="1600">
                <a:solidFill>
                  <a:srgbClr val="E8F0FE"/>
                </a:solidFill>
              </a:rPr>
              <a:t>|</a:t>
            </a:r>
            <a:r>
              <a:rPr lang="zh-CN" altLang="en-US" sz="1600">
                <a:solidFill>
                  <a:srgbClr val="E8F0FE"/>
                </a:solidFill>
              </a:rPr>
              <a:t>　谢谢，欢迎提问</a:t>
            </a:r>
          </a:p>
        </p:txBody>
      </p:sp>
    </p:spTree>
    <p:extLst>
      <p:ext uri="{BB962C8B-B14F-4D97-AF65-F5344CB8AC3E}">
        <p14:creationId xmlns:p14="http://schemas.microsoft.com/office/powerpoint/2010/main" val="3855071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3436</Words>
  <Application>Microsoft Office PowerPoint</Application>
  <PresentationFormat>自定义</PresentationFormat>
  <Paragraphs>119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xh hx</dc:creator>
  <cp:lastModifiedBy>xh hx</cp:lastModifiedBy>
  <cp:revision>1</cp:revision>
  <dcterms:created xsi:type="dcterms:W3CDTF">2026-09-22T09:22:11Z</dcterms:created>
  <dcterms:modified xsi:type="dcterms:W3CDTF">2026-09-22T09:22:11Z</dcterms:modified>
</cp:coreProperties>
</file>