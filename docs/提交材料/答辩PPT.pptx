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ACD87-5F1F-49D9-8D82-101C70DD2064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DB3606-12F5-4250-BA2E-02DE2AC546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060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【0:00-0:25】</a:t>
            </a:r>
            <a:r>
              <a:rPr lang="zh-CN" altLang="en-US"/>
              <a:t>开场一句话：银枢</a:t>
            </a:r>
            <a:r>
              <a:rPr lang="en-US" altLang="zh-CN"/>
              <a:t>·AI</a:t>
            </a:r>
            <a:r>
              <a:rPr lang="zh-CN" altLang="en-US"/>
              <a:t>银行副驾，让用户用一句大白话办完银行业务，同时把风控与适当性做成 </a:t>
            </a:r>
            <a:r>
              <a:rPr lang="en-US" altLang="zh-CN"/>
              <a:t>AI </a:t>
            </a:r>
            <a:r>
              <a:rPr lang="zh-CN" altLang="en-US"/>
              <a:t>的能力边界</a:t>
            </a:r>
            <a:r>
              <a:rPr lang="en-US" altLang="zh-CN"/>
              <a:t>——</a:t>
            </a:r>
            <a:r>
              <a:rPr lang="zh-CN" altLang="en-US"/>
              <a:t>而不是免责声明。今天我用 </a:t>
            </a:r>
            <a:r>
              <a:rPr lang="en-US" altLang="zh-CN"/>
              <a:t>8 </a:t>
            </a:r>
            <a:r>
              <a:rPr lang="zh-CN" altLang="en-US"/>
              <a:t>分钟讲清三件事：我们做了什么、安全上怎么证明、以及能落到哪里。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2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【0:25-1:10】</a:t>
            </a:r>
            <a:r>
              <a:rPr lang="zh-CN" altLang="en-US"/>
              <a:t>这一页是立论。评委关心的是：为什么又多一个 </a:t>
            </a:r>
            <a:r>
              <a:rPr lang="en-US" altLang="zh-CN"/>
              <a:t>AI </a:t>
            </a:r>
            <a:r>
              <a:rPr lang="zh-CN" altLang="en-US"/>
              <a:t>客服？我们的区别在于</a:t>
            </a:r>
            <a:r>
              <a:rPr lang="en-US" altLang="zh-CN"/>
              <a:t>——</a:t>
            </a:r>
            <a:r>
              <a:rPr lang="zh-CN" altLang="en-US"/>
              <a:t>我们不是问答机器人，而是能真实扣款、能拦截、能撤销，并且该拒绝时不含糊的执行型助手。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810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【1:10-2:10】</a:t>
            </a:r>
            <a:r>
              <a:rPr lang="zh-CN" altLang="en-US"/>
              <a:t>六场景一次讲完，重点落在两个“不像客服”的地方：①跨场景联动是一个对话里完成“锁定资金 → 预约下单 → 提醒”；②理财是我问它“挑收益最高的”，它却因为适当性把高收益产品屏蔽了。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887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【2:10-2:45】</a:t>
            </a:r>
            <a:r>
              <a:rPr lang="zh-CN" altLang="en-US"/>
              <a:t>这里强调“同一套内核、多个通道”。</a:t>
            </a:r>
            <a:r>
              <a:rPr lang="en-US" altLang="zh-CN"/>
              <a:t>IM </a:t>
            </a:r>
            <a:r>
              <a:rPr lang="zh-CN" altLang="en-US"/>
              <a:t>渠道是我们刻意做的取舍：文本通道不做人脸，红色操作一律引导到 </a:t>
            </a:r>
            <a:r>
              <a:rPr lang="en-US" altLang="zh-CN"/>
              <a:t>App——</a:t>
            </a:r>
            <a:r>
              <a:rPr lang="zh-CN" altLang="en-US"/>
              <a:t>因为现场因子不能被文本替代，否则多因子就形同虚设。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217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【2:45-4:00】</a:t>
            </a:r>
            <a:r>
              <a:rPr lang="zh-CN" altLang="en-US"/>
              <a:t>这是赛题“高优先级”的第一条，也是我们最下功夫的地方。特别说明两点：转账按“当日累计”而不是单笔；红色操作即使你知道验证码，没有人脸也执行不了。界面上会直接写出分级依据，比如“当日累计转账 </a:t>
            </a:r>
            <a:r>
              <a:rPr lang="en-US" altLang="zh-CN"/>
              <a:t>¥2,000 </a:t>
            </a:r>
            <a:r>
              <a:rPr lang="zh-CN" altLang="en-US"/>
              <a:t>超过 </a:t>
            </a:r>
            <a:r>
              <a:rPr lang="en-US" altLang="zh-CN"/>
              <a:t>¥1,000”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196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【4:00-5:10】</a:t>
            </a:r>
            <a:r>
              <a:rPr lang="zh-CN" altLang="en-US"/>
              <a:t>注入防御这页评委常问。我们的答案不是“提示词写得狠”，而是结构上不给你绕过的可能：工具是白名单、门禁在服务端、资金变动必须经过用户多因子确认。所以即使模型被诱导，也没有“直接执行”的路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935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【5:10-5:50】</a:t>
            </a:r>
            <a:r>
              <a:rPr lang="zh-CN" altLang="en-US"/>
              <a:t>一句话讲架构：把“智能”和“动钱”彻底分开。模型再聪明也只能提出申请，真正扣款只发生在动作层，而且必须经过用户确认与执行前二次校验。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538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【5:50-6:50】</a:t>
            </a:r>
            <a:r>
              <a:rPr lang="zh-CN" altLang="en-US"/>
              <a:t>这一页是技术分量。特别强调“独立复现”：数据里预埋了 </a:t>
            </a:r>
            <a:r>
              <a:rPr lang="en-US" altLang="zh-CN"/>
              <a:t>4 </a:t>
            </a:r>
            <a:r>
              <a:rPr lang="zh-CN" altLang="en-US"/>
              <a:t>笔异常，我们的评分引擎在 </a:t>
            </a:r>
            <a:r>
              <a:rPr lang="en-US" altLang="zh-CN"/>
              <a:t>303 </a:t>
            </a:r>
            <a:r>
              <a:rPr lang="zh-CN" altLang="en-US"/>
              <a:t>笔流水里恰好认出这 </a:t>
            </a:r>
            <a:r>
              <a:rPr lang="en-US" altLang="zh-CN"/>
              <a:t>4 </a:t>
            </a:r>
            <a:r>
              <a:rPr lang="zh-CN" altLang="en-US"/>
              <a:t>笔且没有误报</a:t>
            </a:r>
            <a:r>
              <a:rPr lang="en-US" altLang="zh-CN"/>
              <a:t>——</a:t>
            </a:r>
            <a:r>
              <a:rPr lang="zh-CN" altLang="en-US"/>
              <a:t>这说明识别能力是真的，不是照着标签念。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895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【6:50-7:50】</a:t>
            </a:r>
            <a:r>
              <a:rPr lang="zh-CN" altLang="en-US"/>
              <a:t>演示环节（现场跑或放视频）。三个高光按顺序：拦截 → 多因子 → 跨场景。讲拦截时强调“它没有让我确认，是直接拦住了”；讲多因子时强调“两个因子没齐，确认按钮点不动”。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1029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【7:50-8:30】</a:t>
            </a:r>
            <a:r>
              <a:rPr lang="zh-CN" altLang="en-US"/>
              <a:t>这一页直接对着评分表讲，省评委时间。每一行都能在系统里当场验证，我也准备了自测清单：</a:t>
            </a:r>
            <a:r>
              <a:rPr lang="en-US" altLang="zh-CN"/>
              <a:t>336 </a:t>
            </a:r>
            <a:r>
              <a:rPr lang="zh-CN" altLang="en-US"/>
              <a:t>项断言 </a:t>
            </a:r>
            <a:r>
              <a:rPr lang="en-US" altLang="zh-CN"/>
              <a:t>+ </a:t>
            </a:r>
            <a:r>
              <a:rPr lang="zh-CN" altLang="en-US"/>
              <a:t>专项验证。 补充：我们还把「回退上一步」与「转人工接管」做进了系统，并用 </a:t>
            </a:r>
            <a:r>
              <a:rPr lang="en-US" altLang="zh-CN"/>
              <a:t>50+ </a:t>
            </a:r>
            <a:r>
              <a:rPr lang="zh-CN" altLang="en-US"/>
              <a:t>句现场台词做了路由审计（</a:t>
            </a:r>
            <a:r>
              <a:rPr lang="en-US" altLang="zh-CN"/>
              <a:t>npm run audit</a:t>
            </a:r>
            <a:r>
              <a:rPr lang="zh-CN" altLang="en-US"/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010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【8:30-9:10】</a:t>
            </a:r>
            <a:r>
              <a:rPr lang="zh-CN" altLang="en-US"/>
              <a:t>这页是信任状。我们不做“演示专用逻辑”：金额变动都发生在真实账本上，每一条安全机制都有对应断言。评委可以现场抽查任何一条。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472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【9:10-9:40】</a:t>
            </a:r>
            <a:r>
              <a:rPr lang="zh-CN" altLang="en-US"/>
              <a:t>讲落地时点明“只差数据源与执行通道”：风控规则、适当性、确认流程、留痕都已模块化，替换成本低，这也是我们能给银行带来的工程价值。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750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【9:40-10:00】</a:t>
            </a:r>
            <a:r>
              <a:rPr lang="zh-CN" altLang="en-US"/>
              <a:t>收尾停在这句话上，然后停在“安全中心”操作日志页面，方便评委看留痕。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3606-12F5-4250-BA2E-02DE2AC546E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044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C2808-EE1B-8437-F143-82D96B1935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2202D8-2A99-9494-F2C4-BEA048AF9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392A27-42D9-E702-E17C-B1E5C395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F791EA-C24D-3D2B-6757-4EB86779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74A5E-2AEE-893E-656E-96A0C6AC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7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BE638-21D5-D5A2-28C6-B32222C7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AEC340-1569-0701-4F89-CA6F35BB3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59F3F5-FB2F-AFC4-A398-595EF008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984CC-A671-9B60-9A5B-8607C6BC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ED0BC6-227E-931F-7F73-F5E15C5E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002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98981-D6A2-6A58-3CA9-74DCB168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CA0CF3-DAD0-75C2-9281-4AEA2F37A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5F8339-12F6-4D88-BB60-AF5631679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8A3C52-1409-9EF4-CD34-7F8FD87E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E9BBA-DB28-D48F-D761-037C0185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7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77F7D-29EF-0251-9AAF-2738AC40F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A76D02-B7B7-0CC7-0BD2-39CAE239B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32E8C3-5754-F3A6-55E7-2D401467A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588CFC-183E-C71B-F518-AB944851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1347A1-8227-1208-9AC9-4E91655D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4C81B9-4855-5695-7F62-EB49C7375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6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4CA68-8E75-1D90-7517-3CBAE3574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F5E230-2B63-B4CA-BF88-6A0713BA0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D112B7-C471-59C5-CB3E-79AFADC76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8EF793-6207-E397-04CC-25F7BA05D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9A73510-BAE1-6989-5D9E-18C884A70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6B790E-C641-E7DD-E074-BBFAAA0E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CBE091-38D8-196A-4612-33C8342A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2344FFE-419E-9CA7-7727-50EBF3A1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290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60ED7-CE4E-7F20-9726-2A67A841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8DF836-C0E9-B174-5B79-06F5AFF1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2E9EB0-9B2B-C7EA-D8F8-F70E350E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1FA015-4CA1-0FD5-62A7-4E7A3805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57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76D520-6C70-4488-5324-6E1B9C09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82D964-B0F8-D5A5-3C76-836FF7E49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E1A1A-D87C-7E4D-15E5-4D5A9F82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AD4CB-6981-4A70-943A-B62E89C31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A56621-675E-D695-0BC1-AFBDE5BC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6A49B3-DEC1-8D8A-0971-495484828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082437-78CD-117F-7D6E-D7C6151D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41F3F2-B8F2-E404-C2B0-8C7826D3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63DA5C-3D9A-9374-F5A0-ED07AB08F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77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0DF5A-5F92-CEC2-37E5-2ACAA7D7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5D02D06-2DC7-8B5F-65D8-C7A0690E1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DF065A-AAF4-06D2-6A21-8887EBD3A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499363-D48A-CE63-115E-87ECF5CB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6057FE-7FC9-08B2-BA0C-2ED5A3C9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980E65-3C44-14E5-1770-EEDF5C7FC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14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BEB94-54FB-705B-A41E-6C247E670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9F1FD3-2DB8-4794-E8B7-1D4DDCF29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ED4AD3-A889-35B9-9889-A77E4519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C22B48-7A5D-63A0-9C34-D86A1F8D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40D631-7440-8242-C7D2-089B3E69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285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3FCA081-8520-4F9A-62AC-3454DA649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1AF15C-0B1F-9366-F011-6F850A29D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2F0A0-EB1E-F293-5FB8-861295E6A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48B64F-2E16-3764-22D1-7BD976B8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8A89B-851C-555C-BAA1-5B15EBF3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83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C128DFC-4E18-07BC-E125-F5FB887CD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394C48-1AE8-13B3-DC37-F060B3FB6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AD5363-E457-0AFB-8063-023BAD3EA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6EC5C-AF1B-490E-A266-D9292E02F942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46770-B3A7-3E52-92B9-3D6D40B2F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32AE0C-2672-6B01-2FD1-79EF7EEFA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330B3-9A18-44EB-AC08-FE9D7AF05D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96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29A7AC-BED6-3C2B-2730-456B42270350}"/>
              </a:ext>
            </a:extLst>
          </p:cNvPr>
          <p:cNvSpPr/>
          <p:nvPr/>
        </p:nvSpPr>
        <p:spPr>
          <a:xfrm>
            <a:off x="0" y="0"/>
            <a:ext cx="12192000" cy="31750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B4D55D-8710-BB22-C781-CAB819A74E34}"/>
              </a:ext>
            </a:extLst>
          </p:cNvPr>
          <p:cNvSpPr txBox="1"/>
          <p:nvPr/>
        </p:nvSpPr>
        <p:spPr>
          <a:xfrm>
            <a:off x="889000" y="889000"/>
            <a:ext cx="10414000" cy="806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000" b="1">
                <a:solidFill>
                  <a:srgbClr val="FFFFFF"/>
                </a:solidFill>
              </a:rPr>
              <a:t>银枢 </a:t>
            </a:r>
            <a:r>
              <a:rPr lang="en-US" altLang="zh-CN" sz="4000" b="1">
                <a:solidFill>
                  <a:srgbClr val="FFFFFF"/>
                </a:solidFill>
              </a:rPr>
              <a:t>· AI</a:t>
            </a:r>
            <a:r>
              <a:rPr lang="zh-CN" altLang="en-US" sz="4000" b="1">
                <a:solidFill>
                  <a:srgbClr val="FFFFFF"/>
                </a:solidFill>
              </a:rPr>
              <a:t>银行副驾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4C6FF8-E387-7574-3D09-A12AC0D39C37}"/>
              </a:ext>
            </a:extLst>
          </p:cNvPr>
          <p:cNvSpPr txBox="1"/>
          <p:nvPr/>
        </p:nvSpPr>
        <p:spPr>
          <a:xfrm>
            <a:off x="914400" y="1778000"/>
            <a:ext cx="10160000" cy="3958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700">
                <a:solidFill>
                  <a:srgbClr val="E8F0FE"/>
                </a:solidFill>
              </a:rPr>
              <a:t>安全优先的智能金融助手 </a:t>
            </a:r>
            <a:r>
              <a:rPr lang="en-US" altLang="zh-CN" sz="1700">
                <a:solidFill>
                  <a:srgbClr val="E8F0FE"/>
                </a:solidFill>
              </a:rPr>
              <a:t>—— </a:t>
            </a:r>
            <a:r>
              <a:rPr lang="zh-CN" altLang="en-US" sz="1700">
                <a:solidFill>
                  <a:srgbClr val="E8F0FE"/>
                </a:solidFill>
              </a:rPr>
              <a:t>一句话办完业务，涉及钱的每一步都守得住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83BD9F-00F2-7B28-E2F1-F846D5F5AD88}"/>
              </a:ext>
            </a:extLst>
          </p:cNvPr>
          <p:cNvSpPr txBox="1"/>
          <p:nvPr/>
        </p:nvSpPr>
        <p:spPr>
          <a:xfrm>
            <a:off x="914400" y="3619500"/>
            <a:ext cx="10414000" cy="3243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300">
                <a:solidFill>
                  <a:srgbClr val="667085"/>
                </a:solidFill>
              </a:rPr>
              <a:t>参赛团队：银枢小队　</a:t>
            </a:r>
            <a:r>
              <a:rPr lang="en-US" altLang="zh-CN" sz="1300">
                <a:solidFill>
                  <a:srgbClr val="667085"/>
                </a:solidFill>
              </a:rPr>
              <a:t>|</a:t>
            </a:r>
            <a:r>
              <a:rPr lang="zh-CN" altLang="en-US" sz="1300">
                <a:solidFill>
                  <a:srgbClr val="667085"/>
                </a:solidFill>
              </a:rPr>
              <a:t>　作品类型：银行 </a:t>
            </a:r>
            <a:r>
              <a:rPr lang="en-US" altLang="zh-CN" sz="1300">
                <a:solidFill>
                  <a:srgbClr val="667085"/>
                </a:solidFill>
              </a:rPr>
              <a:t>AI </a:t>
            </a:r>
            <a:r>
              <a:rPr lang="zh-CN" altLang="en-US" sz="1300">
                <a:solidFill>
                  <a:srgbClr val="667085"/>
                </a:solidFill>
              </a:rPr>
              <a:t>智能体（</a:t>
            </a:r>
            <a:r>
              <a:rPr lang="en-US" altLang="zh-CN" sz="1300">
                <a:solidFill>
                  <a:srgbClr val="667085"/>
                </a:solidFill>
              </a:rPr>
              <a:t>AI Banking Agent</a:t>
            </a:r>
            <a:r>
              <a:rPr lang="zh-CN" altLang="en-US" sz="1300">
                <a:solidFill>
                  <a:srgbClr val="667085"/>
                </a:solidFill>
              </a:rPr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862005-FB5A-95E6-6C13-A095A8DB25F2}"/>
              </a:ext>
            </a:extLst>
          </p:cNvPr>
          <p:cNvSpPr/>
          <p:nvPr/>
        </p:nvSpPr>
        <p:spPr>
          <a:xfrm>
            <a:off x="914400" y="4254500"/>
            <a:ext cx="1143000" cy="63500"/>
          </a:xfrm>
          <a:prstGeom prst="rect">
            <a:avLst/>
          </a:prstGeom>
          <a:solidFill>
            <a:srgbClr val="0B4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7844135-FE57-ECB7-9F8F-3C29DFD319E3}"/>
              </a:ext>
            </a:extLst>
          </p:cNvPr>
          <p:cNvSpPr txBox="1"/>
          <p:nvPr/>
        </p:nvSpPr>
        <p:spPr>
          <a:xfrm>
            <a:off x="914400" y="4635500"/>
            <a:ext cx="10414000" cy="342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>
                <a:solidFill>
                  <a:srgbClr val="101828"/>
                </a:solidFill>
              </a:rPr>
              <a:t>赛题：构建银行 </a:t>
            </a:r>
            <a:r>
              <a:rPr lang="en-US" altLang="zh-CN" sz="1400">
                <a:solidFill>
                  <a:srgbClr val="101828"/>
                </a:solidFill>
              </a:rPr>
              <a:t>AI </a:t>
            </a:r>
            <a:r>
              <a:rPr lang="zh-CN" altLang="en-US" sz="1400">
                <a:solidFill>
                  <a:srgbClr val="101828"/>
                </a:solidFill>
              </a:rPr>
              <a:t>智能体，自主理解意图、规划任务链路，并在严格的安全框架内完成银行业务操作。</a:t>
            </a:r>
          </a:p>
        </p:txBody>
      </p:sp>
    </p:spTree>
    <p:extLst>
      <p:ext uri="{BB962C8B-B14F-4D97-AF65-F5344CB8AC3E}">
        <p14:creationId xmlns:p14="http://schemas.microsoft.com/office/powerpoint/2010/main" val="4115141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EF2E5FB-EAC0-7705-AF93-927B2C5D31F3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873AF4-3D8A-C534-C6E2-585DEB579FAF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赛题与痛点：为什么需要“有边界”的银行 </a:t>
            </a:r>
            <a:r>
              <a:rPr lang="en-US" altLang="zh-CN" sz="2200" b="1">
                <a:solidFill>
                  <a:srgbClr val="FFFFFF"/>
                </a:solidFill>
              </a:rPr>
              <a:t>Agent</a:t>
            </a:r>
            <a:endParaRPr lang="zh-CN" altLang="en-US" sz="2200" b="1">
              <a:solidFill>
                <a:srgbClr val="FFFFFF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982B22-B964-C45A-B420-927AAA005598}"/>
              </a:ext>
            </a:extLst>
          </p:cNvPr>
          <p:cNvSpPr txBox="1"/>
          <p:nvPr/>
        </p:nvSpPr>
        <p:spPr>
          <a:xfrm>
            <a:off x="508000" y="1092200"/>
            <a:ext cx="11176000" cy="216931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传统手机银行：入口深、路径长，一笔转账常常 </a:t>
            </a:r>
            <a:r>
              <a:rPr lang="en-US" altLang="zh-CN" sz="1500">
                <a:solidFill>
                  <a:srgbClr val="101828"/>
                </a:solidFill>
              </a:rPr>
              <a:t>3 </a:t>
            </a:r>
            <a:r>
              <a:rPr lang="zh-CN" altLang="en-US" sz="1500">
                <a:solidFill>
                  <a:srgbClr val="101828"/>
                </a:solidFill>
              </a:rPr>
              <a:t>步以上；用户找不到、不放心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风险防护弱：风险提示一划而过；适当性靠客户自己“点过确认”；诈骗事后才发现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通用大模型直接接银行：会“听话地”执行越权指令，幻觉与注入风险无法承受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我们的答案：把“风控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适当性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全程留痕”做进 </a:t>
            </a:r>
            <a:r>
              <a:rPr lang="en-US" altLang="zh-CN" sz="1500">
                <a:solidFill>
                  <a:srgbClr val="101828"/>
                </a:solidFill>
              </a:rPr>
              <a:t>Agent </a:t>
            </a:r>
            <a:r>
              <a:rPr lang="zh-CN" altLang="en-US" sz="1500">
                <a:solidFill>
                  <a:srgbClr val="101828"/>
                </a:solidFill>
              </a:rPr>
              <a:t>的运行时，让 </a:t>
            </a:r>
            <a:r>
              <a:rPr lang="en-US" altLang="zh-CN" sz="1500">
                <a:solidFill>
                  <a:srgbClr val="101828"/>
                </a:solidFill>
              </a:rPr>
              <a:t>AI </a:t>
            </a:r>
            <a:r>
              <a:rPr lang="zh-CN" altLang="en-US" sz="1500">
                <a:solidFill>
                  <a:srgbClr val="101828"/>
                </a:solidFill>
              </a:rPr>
              <a:t>能把事办完，但办不了不该办的事</a:t>
            </a:r>
          </a:p>
        </p:txBody>
      </p:sp>
    </p:spTree>
    <p:extLst>
      <p:ext uri="{BB962C8B-B14F-4D97-AF65-F5344CB8AC3E}">
        <p14:creationId xmlns:p14="http://schemas.microsoft.com/office/powerpoint/2010/main" val="3956538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421190-7827-B6B2-029D-8BD1D068C18B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016406-406A-BF91-51EC-23922750974A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产品方案：六大核心场景（赛题鼓励全覆盖，我们全部落地）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DCE23B-D51D-FCEC-70A9-5437062DACCF}"/>
              </a:ext>
            </a:extLst>
          </p:cNvPr>
          <p:cNvSpPr txBox="1"/>
          <p:nvPr/>
        </p:nvSpPr>
        <p:spPr>
          <a:xfrm>
            <a:off x="508000" y="1092200"/>
            <a:ext cx="11176000" cy="33696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智能转账：按人名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称谓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手机号尾号找收款人；转账前展示收款人</a:t>
            </a:r>
            <a:r>
              <a:rPr lang="en-US" altLang="zh-CN" sz="1500">
                <a:solidFill>
                  <a:srgbClr val="101828"/>
                </a:solidFill>
              </a:rPr>
              <a:t>·</a:t>
            </a:r>
            <a:r>
              <a:rPr lang="zh-CN" altLang="en-US" sz="1500">
                <a:solidFill>
                  <a:srgbClr val="101828"/>
                </a:solidFill>
              </a:rPr>
              <a:t>开户行</a:t>
            </a:r>
            <a:r>
              <a:rPr lang="en-US" altLang="zh-CN" sz="1500">
                <a:solidFill>
                  <a:srgbClr val="101828"/>
                </a:solidFill>
              </a:rPr>
              <a:t>·</a:t>
            </a:r>
            <a:r>
              <a:rPr lang="zh-CN" altLang="en-US" sz="1500">
                <a:solidFill>
                  <a:srgbClr val="101828"/>
                </a:solidFill>
              </a:rPr>
              <a:t>金额；定时转账、</a:t>
            </a:r>
            <a:r>
              <a:rPr lang="en-US" altLang="zh-CN" sz="1500">
                <a:solidFill>
                  <a:srgbClr val="101828"/>
                </a:solidFill>
              </a:rPr>
              <a:t>AA </a:t>
            </a:r>
            <a:r>
              <a:rPr lang="zh-CN" altLang="en-US" sz="1500">
                <a:solidFill>
                  <a:srgbClr val="101828"/>
                </a:solidFill>
              </a:rPr>
              <a:t>拆分、</a:t>
            </a:r>
            <a:r>
              <a:rPr lang="en-US" altLang="zh-CN" sz="1500">
                <a:solidFill>
                  <a:srgbClr val="101828"/>
                </a:solidFill>
              </a:rPr>
              <a:t>T+0 </a:t>
            </a:r>
            <a:r>
              <a:rPr lang="zh-CN" altLang="en-US" sz="1500">
                <a:solidFill>
                  <a:srgbClr val="101828"/>
                </a:solidFill>
              </a:rPr>
              <a:t>撤销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账单分析：分类统计、环比、消费时段；年度报告；评分制异常识别（深夜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异地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境外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金额突增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超大额）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理财操作：</a:t>
            </a:r>
            <a:r>
              <a:rPr lang="en-US" altLang="zh-CN" sz="1500">
                <a:solidFill>
                  <a:srgbClr val="101828"/>
                </a:solidFill>
              </a:rPr>
              <a:t>5 </a:t>
            </a:r>
            <a:r>
              <a:rPr lang="zh-CN" altLang="en-US" sz="1500">
                <a:solidFill>
                  <a:srgbClr val="101828"/>
                </a:solidFill>
              </a:rPr>
              <a:t>题风险测评 → 适当性过滤 → 推荐对比 → 一键申购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赎回（含风险提示朗读）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卡片管理：实体卡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虚拟卡申请、额度调整、交易限额、冻结解冻、挂失与解挂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订阅管理：从流水自动识别周期性扣费、续费倒计时提醒、一键取消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跨场景联动：一句话安排生日 → 主动补问 → 当月锁定资金 → 生日前 </a:t>
            </a:r>
            <a:r>
              <a:rPr lang="en-US" altLang="zh-CN" sz="1500">
                <a:solidFill>
                  <a:srgbClr val="101828"/>
                </a:solidFill>
              </a:rPr>
              <a:t>2 </a:t>
            </a:r>
            <a:r>
              <a:rPr lang="zh-CN" altLang="en-US" sz="1500">
                <a:solidFill>
                  <a:srgbClr val="101828"/>
                </a:solidFill>
              </a:rPr>
              <a:t>天自动下单 → 生成提醒</a:t>
            </a:r>
          </a:p>
        </p:txBody>
      </p:sp>
    </p:spTree>
    <p:extLst>
      <p:ext uri="{BB962C8B-B14F-4D97-AF65-F5344CB8AC3E}">
        <p14:creationId xmlns:p14="http://schemas.microsoft.com/office/powerpoint/2010/main" val="12074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FD7939-5716-4CAC-0E8A-C26E784C1CDD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1F4651-5CA5-1550-388E-F55C4863A655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交付形态：</a:t>
            </a:r>
            <a:r>
              <a:rPr lang="en-US" altLang="zh-CN" sz="2200" b="1">
                <a:solidFill>
                  <a:srgbClr val="FFFFFF"/>
                </a:solidFill>
              </a:rPr>
              <a:t>APP </a:t>
            </a:r>
            <a:r>
              <a:rPr lang="zh-CN" altLang="en-US" sz="2200" b="1">
                <a:solidFill>
                  <a:srgbClr val="FFFFFF"/>
                </a:solidFill>
              </a:rPr>
              <a:t>主界面 </a:t>
            </a:r>
            <a:r>
              <a:rPr lang="en-US" altLang="zh-CN" sz="2200" b="1">
                <a:solidFill>
                  <a:srgbClr val="FFFFFF"/>
                </a:solidFill>
              </a:rPr>
              <a:t>+ IM </a:t>
            </a:r>
            <a:r>
              <a:rPr lang="zh-CN" altLang="en-US" sz="2200" b="1">
                <a:solidFill>
                  <a:srgbClr val="FFFFFF"/>
                </a:solidFill>
              </a:rPr>
              <a:t>渠道，同一套 </a:t>
            </a:r>
            <a:r>
              <a:rPr lang="en-US" altLang="zh-CN" sz="2200" b="1">
                <a:solidFill>
                  <a:srgbClr val="FFFFFF"/>
                </a:solidFill>
              </a:rPr>
              <a:t>Agent </a:t>
            </a:r>
            <a:r>
              <a:rPr lang="zh-CN" altLang="en-US" sz="2200" b="1">
                <a:solidFill>
                  <a:srgbClr val="FFFFFF"/>
                </a:solidFill>
              </a:rPr>
              <a:t>内核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E9E56A4-5BCE-969C-D301-8DF1C5EAC9FD}"/>
              </a:ext>
            </a:extLst>
          </p:cNvPr>
          <p:cNvSpPr txBox="1"/>
          <p:nvPr/>
        </p:nvSpPr>
        <p:spPr>
          <a:xfrm>
            <a:off x="508000" y="1092200"/>
            <a:ext cx="11176000" cy="216931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左侧智能对话：思考过程可见（理解意图 → 任务规划 → 调用工具 → 结果反馈），每步可展开“为什么这么做”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右侧仿真手机银行：卡片、账单异常、订阅代扣、理财持仓、卡片业务随对话实时联动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待确认卡片：展示关键信息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分级标识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风险提示朗读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取消入口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IM </a:t>
            </a:r>
            <a:r>
              <a:rPr lang="zh-CN" altLang="en-US" sz="1500">
                <a:solidFill>
                  <a:srgbClr val="101828"/>
                </a:solidFill>
              </a:rPr>
              <a:t>渠道演示：企业 </a:t>
            </a:r>
            <a:r>
              <a:rPr lang="en-US" altLang="zh-CN" sz="1500">
                <a:solidFill>
                  <a:srgbClr val="101828"/>
                </a:solidFill>
              </a:rPr>
              <a:t>IM </a:t>
            </a:r>
            <a:r>
              <a:rPr lang="zh-CN" altLang="en-US" sz="1500">
                <a:solidFill>
                  <a:srgbClr val="101828"/>
                </a:solidFill>
              </a:rPr>
              <a:t>文本通道接入同一内核（查询直接答、黄色操作文本确认、红色操作引导去 </a:t>
            </a:r>
            <a:r>
              <a:rPr lang="en-US" altLang="zh-CN" sz="1500">
                <a:solidFill>
                  <a:srgbClr val="101828"/>
                </a:solidFill>
              </a:rPr>
              <a:t>App </a:t>
            </a:r>
            <a:r>
              <a:rPr lang="zh-CN" altLang="en-US" sz="1500">
                <a:solidFill>
                  <a:srgbClr val="101828"/>
                </a:solidFill>
              </a:rPr>
              <a:t>完成现场因子）</a:t>
            </a:r>
          </a:p>
        </p:txBody>
      </p:sp>
    </p:spTree>
    <p:extLst>
      <p:ext uri="{BB962C8B-B14F-4D97-AF65-F5344CB8AC3E}">
        <p14:creationId xmlns:p14="http://schemas.microsoft.com/office/powerpoint/2010/main" val="242204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00495D0-1215-92AA-87BE-AB2327D7396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D652B2-CCEE-7436-2C48-547756692FC6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安全体系①：三级权限分级（绿 </a:t>
            </a:r>
            <a:r>
              <a:rPr lang="en-US" altLang="zh-CN" sz="2200" b="1">
                <a:solidFill>
                  <a:srgbClr val="FFFFFF"/>
                </a:solidFill>
              </a:rPr>
              <a:t>/ </a:t>
            </a:r>
            <a:r>
              <a:rPr lang="zh-CN" altLang="en-US" sz="2200" b="1">
                <a:solidFill>
                  <a:srgbClr val="FFFFFF"/>
                </a:solidFill>
              </a:rPr>
              <a:t>黄 </a:t>
            </a:r>
            <a:r>
              <a:rPr lang="en-US" altLang="zh-CN" sz="2200" b="1">
                <a:solidFill>
                  <a:srgbClr val="FFFFFF"/>
                </a:solidFill>
              </a:rPr>
              <a:t>/ </a:t>
            </a:r>
            <a:r>
              <a:rPr lang="zh-CN" altLang="en-US" sz="2200" b="1">
                <a:solidFill>
                  <a:srgbClr val="FFFFFF"/>
                </a:solidFill>
              </a:rPr>
              <a:t>红）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C0BC1D-5D9B-5D40-5420-5822E4F1D898}"/>
              </a:ext>
            </a:extLst>
          </p:cNvPr>
          <p:cNvSpPr txBox="1"/>
          <p:nvPr/>
        </p:nvSpPr>
        <p:spPr>
          <a:xfrm>
            <a:off x="508000" y="1092200"/>
            <a:ext cx="11176000" cy="27694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🟢 绿色 </a:t>
            </a:r>
            <a:r>
              <a:rPr lang="en-US" altLang="zh-CN" sz="1500">
                <a:solidFill>
                  <a:srgbClr val="101828"/>
                </a:solidFill>
              </a:rPr>
              <a:t>· </a:t>
            </a:r>
            <a:r>
              <a:rPr lang="zh-CN" altLang="en-US" sz="1500">
                <a:solidFill>
                  <a:srgbClr val="101828"/>
                </a:solidFill>
              </a:rPr>
              <a:t>自动执行：余额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明细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账单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订阅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持仓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收益查询、风控预检 </a:t>
            </a:r>
            <a:r>
              <a:rPr lang="en-US" altLang="zh-CN" sz="1500">
                <a:solidFill>
                  <a:srgbClr val="101828"/>
                </a:solidFill>
              </a:rPr>
              <a:t>—— </a:t>
            </a:r>
            <a:r>
              <a:rPr lang="zh-CN" altLang="en-US" sz="1500">
                <a:solidFill>
                  <a:srgbClr val="101828"/>
                </a:solidFill>
              </a:rPr>
              <a:t>确认意图后直接执行，写审计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🟡 黄色 </a:t>
            </a:r>
            <a:r>
              <a:rPr lang="en-US" altLang="zh-CN" sz="1500">
                <a:solidFill>
                  <a:srgbClr val="101828"/>
                </a:solidFill>
              </a:rPr>
              <a:t>· </a:t>
            </a:r>
            <a:r>
              <a:rPr lang="zh-CN" altLang="en-US" sz="1500">
                <a:solidFill>
                  <a:srgbClr val="101828"/>
                </a:solidFill>
              </a:rPr>
              <a:t>用户确认：小额转账（当日累计 ≤ </a:t>
            </a:r>
            <a:r>
              <a:rPr lang="en-US" altLang="zh-CN" sz="1500">
                <a:solidFill>
                  <a:srgbClr val="101828"/>
                </a:solidFill>
              </a:rPr>
              <a:t>¥1,000</a:t>
            </a:r>
            <a:r>
              <a:rPr lang="zh-CN" altLang="en-US" sz="1500">
                <a:solidFill>
                  <a:srgbClr val="101828"/>
                </a:solidFill>
              </a:rPr>
              <a:t>）、订阅取消、虚拟卡申请、限额调整、冻结解冻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🔴 红色 </a:t>
            </a:r>
            <a:r>
              <a:rPr lang="en-US" altLang="zh-CN" sz="1500">
                <a:solidFill>
                  <a:srgbClr val="101828"/>
                </a:solidFill>
              </a:rPr>
              <a:t>· </a:t>
            </a:r>
            <a:r>
              <a:rPr lang="zh-CN" altLang="en-US" sz="1500">
                <a:solidFill>
                  <a:srgbClr val="101828"/>
                </a:solidFill>
              </a:rPr>
              <a:t>多因子强验证：大额转账（当日累计 </a:t>
            </a:r>
            <a:r>
              <a:rPr lang="en-US" altLang="zh-CN" sz="1500">
                <a:solidFill>
                  <a:srgbClr val="101828"/>
                </a:solidFill>
              </a:rPr>
              <a:t>&gt; ¥1,000</a:t>
            </a:r>
            <a:r>
              <a:rPr lang="zh-CN" altLang="en-US" sz="1500">
                <a:solidFill>
                  <a:srgbClr val="101828"/>
                </a:solidFill>
              </a:rPr>
              <a:t>）、交易密码修改、挂失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解挂、理财申购赎回、额度调整 </a:t>
            </a:r>
            <a:r>
              <a:rPr lang="en-US" altLang="zh-CN" sz="1500">
                <a:solidFill>
                  <a:srgbClr val="101828"/>
                </a:solidFill>
              </a:rPr>
              <a:t>—— </a:t>
            </a:r>
            <a:r>
              <a:rPr lang="zh-CN" altLang="en-US" sz="1500">
                <a:solidFill>
                  <a:srgbClr val="101828"/>
                </a:solidFill>
              </a:rPr>
              <a:t>需短信验证码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人脸识别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关键设计：判定不通过时不生成确认入口；红色操作不允许在对话里用“确认”代替；阈值与因子集中在配置层，可随行内策略调整</a:t>
            </a:r>
          </a:p>
        </p:txBody>
      </p:sp>
    </p:spTree>
    <p:extLst>
      <p:ext uri="{BB962C8B-B14F-4D97-AF65-F5344CB8AC3E}">
        <p14:creationId xmlns:p14="http://schemas.microsoft.com/office/powerpoint/2010/main" val="301303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58C34D-8938-46AB-FB25-6B2E6F791CA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7C33A71-F668-D9DC-AF11-28668C755562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安全体系②：五大机制 </a:t>
            </a:r>
            <a:r>
              <a:rPr lang="en-US" altLang="zh-CN" sz="2200" b="1">
                <a:solidFill>
                  <a:srgbClr val="FFFFFF"/>
                </a:solidFill>
              </a:rPr>
              <a:t>+ </a:t>
            </a:r>
            <a:r>
              <a:rPr lang="zh-CN" altLang="en-US" sz="2200" b="1">
                <a:solidFill>
                  <a:srgbClr val="FFFFFF"/>
                </a:solidFill>
              </a:rPr>
              <a:t>风控规则引擎 </a:t>
            </a:r>
            <a:r>
              <a:rPr lang="en-US" altLang="zh-CN" sz="2200" b="1">
                <a:solidFill>
                  <a:srgbClr val="FFFFFF"/>
                </a:solidFill>
              </a:rPr>
              <a:t>+ </a:t>
            </a:r>
            <a:r>
              <a:rPr lang="zh-CN" altLang="en-US" sz="2200" b="1">
                <a:solidFill>
                  <a:srgbClr val="FFFFFF"/>
                </a:solidFill>
              </a:rPr>
              <a:t>注入防御 </a:t>
            </a:r>
            <a:r>
              <a:rPr lang="en-US" altLang="zh-CN" sz="2200" b="1">
                <a:solidFill>
                  <a:srgbClr val="FFFFFF"/>
                </a:solidFill>
              </a:rPr>
              <a:t>+ </a:t>
            </a:r>
            <a:r>
              <a:rPr lang="zh-CN" altLang="en-US" sz="2200" b="1">
                <a:solidFill>
                  <a:srgbClr val="FFFFFF"/>
                </a:solidFill>
              </a:rPr>
              <a:t>异常熔断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DCB184-1E91-6CA8-5E6B-5346DF14C880}"/>
              </a:ext>
            </a:extLst>
          </p:cNvPr>
          <p:cNvSpPr txBox="1"/>
          <p:nvPr/>
        </p:nvSpPr>
        <p:spPr>
          <a:xfrm>
            <a:off x="508000" y="1092200"/>
            <a:ext cx="11176000" cy="33696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风控规则引擎（</a:t>
            </a:r>
            <a:r>
              <a:rPr lang="en-US" altLang="zh-CN" sz="1500">
                <a:solidFill>
                  <a:srgbClr val="101828"/>
                </a:solidFill>
              </a:rPr>
              <a:t>10 </a:t>
            </a:r>
            <a:r>
              <a:rPr lang="zh-CN" altLang="en-US" sz="1500">
                <a:solidFill>
                  <a:srgbClr val="101828"/>
                </a:solidFill>
              </a:rPr>
              <a:t>条）：收款人白名单、涉诈黑名单（阻断级）、金额阈值、夜间大额、整数大额、余额不足、单笔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日累计限额、收款人不存在、高风险话术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适当性管理：测评等级不匹配即拒绝，推荐里不会出现高风险产品，拒绝动作同样写审计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全程留痕：成功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未就绪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失败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拒绝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取消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未识别意图六类全部入库，并记录完整决策链路（规划 → 工具调用）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注入防御：识别 </a:t>
            </a:r>
            <a:r>
              <a:rPr lang="en-US" altLang="zh-CN" sz="1500">
                <a:solidFill>
                  <a:srgbClr val="101828"/>
                </a:solidFill>
              </a:rPr>
              <a:t>10 </a:t>
            </a:r>
            <a:r>
              <a:rPr lang="zh-CN" altLang="en-US" sz="1500">
                <a:solidFill>
                  <a:srgbClr val="101828"/>
                </a:solidFill>
              </a:rPr>
              <a:t>类越权诱导（忽略指令、跳过确认、免验证、伪造系统消息</a:t>
            </a:r>
            <a:r>
              <a:rPr lang="en-US" altLang="zh-CN" sz="1500">
                <a:solidFill>
                  <a:srgbClr val="101828"/>
                </a:solidFill>
              </a:rPr>
              <a:t>…</a:t>
            </a:r>
            <a:r>
              <a:rPr lang="zh-CN" altLang="en-US" sz="1500">
                <a:solidFill>
                  <a:srgbClr val="101828"/>
                </a:solidFill>
              </a:rPr>
              <a:t>）→ 告警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安全审计，且结构上无绕过路径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异常熔断：</a:t>
            </a:r>
            <a:r>
              <a:rPr lang="en-US" altLang="zh-CN" sz="1500">
                <a:solidFill>
                  <a:srgbClr val="101828"/>
                </a:solidFill>
              </a:rPr>
              <a:t>10 </a:t>
            </a:r>
            <a:r>
              <a:rPr lang="zh-CN" altLang="en-US" sz="1500">
                <a:solidFill>
                  <a:srgbClr val="101828"/>
                </a:solidFill>
              </a:rPr>
              <a:t>分钟内 </a:t>
            </a:r>
            <a:r>
              <a:rPr lang="en-US" altLang="zh-CN" sz="1500">
                <a:solidFill>
                  <a:srgbClr val="101828"/>
                </a:solidFill>
              </a:rPr>
              <a:t>3 </a:t>
            </a:r>
            <a:r>
              <a:rPr lang="zh-CN" altLang="en-US" sz="1500">
                <a:solidFill>
                  <a:srgbClr val="101828"/>
                </a:solidFill>
              </a:rPr>
              <a:t>次失败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可疑行为 → 锁定全部红色操作 </a:t>
            </a:r>
            <a:r>
              <a:rPr lang="en-US" altLang="zh-CN" sz="1500">
                <a:solidFill>
                  <a:srgbClr val="101828"/>
                </a:solidFill>
              </a:rPr>
              <a:t>5 </a:t>
            </a:r>
            <a:r>
              <a:rPr lang="zh-CN" altLang="en-US" sz="1500">
                <a:solidFill>
                  <a:srgbClr val="101828"/>
                </a:solidFill>
              </a:rPr>
              <a:t>分钟；沙箱声明：运行时不执行任何动态代码，能力来自工具白名单</a:t>
            </a:r>
          </a:p>
        </p:txBody>
      </p:sp>
    </p:spTree>
    <p:extLst>
      <p:ext uri="{BB962C8B-B14F-4D97-AF65-F5344CB8AC3E}">
        <p14:creationId xmlns:p14="http://schemas.microsoft.com/office/powerpoint/2010/main" val="150690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2EB977B-A0BF-E537-6E9A-291DC802F9B2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624D06-B4F5-4B15-5873-6A8E33D17896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技术架构：五层职责分离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4DC9D3-7C3D-5409-B347-9D7BAC20970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016000"/>
            <a:ext cx="11176000" cy="4826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B01436A-92EC-55AB-EBB5-D69E0309EE14}"/>
              </a:ext>
            </a:extLst>
          </p:cNvPr>
          <p:cNvSpPr txBox="1"/>
          <p:nvPr/>
        </p:nvSpPr>
        <p:spPr>
          <a:xfrm>
            <a:off x="508000" y="5969000"/>
            <a:ext cx="11176000" cy="3243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300">
                <a:solidFill>
                  <a:srgbClr val="101828"/>
                </a:solidFill>
              </a:rPr>
              <a:t>意图层只做规划不改数据；工具层 </a:t>
            </a:r>
            <a:r>
              <a:rPr lang="en-US" altLang="zh-CN" sz="1300">
                <a:solidFill>
                  <a:srgbClr val="101828"/>
                </a:solidFill>
              </a:rPr>
              <a:t>30 </a:t>
            </a:r>
            <a:r>
              <a:rPr lang="zh-CN" altLang="en-US" sz="1300">
                <a:solidFill>
                  <a:srgbClr val="101828"/>
                </a:solidFill>
              </a:rPr>
              <a:t>个能力逐项声明风险；门禁层决定能不能做；动作层是唯一动资金的地方；审计层记录发生了什么</a:t>
            </a:r>
          </a:p>
        </p:txBody>
      </p:sp>
    </p:spTree>
    <p:extLst>
      <p:ext uri="{BB962C8B-B14F-4D97-AF65-F5344CB8AC3E}">
        <p14:creationId xmlns:p14="http://schemas.microsoft.com/office/powerpoint/2010/main" val="4105969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3B1C47-21D4-E7FE-65A9-6219171AB21F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8E5EC4-1118-EBD1-9142-013491960735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核心技术点：为什么这不是“套壳对话”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0B669D-E72C-CCB8-5B98-7D00DB7D288B}"/>
              </a:ext>
            </a:extLst>
          </p:cNvPr>
          <p:cNvSpPr txBox="1"/>
          <p:nvPr/>
        </p:nvSpPr>
        <p:spPr>
          <a:xfrm>
            <a:off x="508000" y="1092200"/>
            <a:ext cx="11176000" cy="27694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可解释意图路由：优先级匹配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证据化匹配度（金额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时间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分类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收款人线索逐条给出），不做“凭空 </a:t>
            </a:r>
            <a:r>
              <a:rPr lang="en-US" altLang="zh-CN" sz="1500">
                <a:solidFill>
                  <a:srgbClr val="101828"/>
                </a:solidFill>
              </a:rPr>
              <a:t>95% </a:t>
            </a:r>
            <a:r>
              <a:rPr lang="zh-CN" altLang="en-US" sz="1500">
                <a:solidFill>
                  <a:srgbClr val="101828"/>
                </a:solidFill>
              </a:rPr>
              <a:t>置信度”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能力降级与上下文承接：能力未上线时显式降级并说明；跨轮追问能承接上文，同时不允许劫持无关提问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评分制异常识别：多特征加权（深夜</a:t>
            </a:r>
            <a:r>
              <a:rPr lang="en-US" altLang="zh-CN" sz="1500">
                <a:solidFill>
                  <a:srgbClr val="101828"/>
                </a:solidFill>
              </a:rPr>
              <a:t>+30</a:t>
            </a:r>
            <a:r>
              <a:rPr lang="zh-CN" altLang="en-US" sz="1500">
                <a:solidFill>
                  <a:srgbClr val="101828"/>
                </a:solidFill>
              </a:rPr>
              <a:t>、异地</a:t>
            </a:r>
            <a:r>
              <a:rPr lang="en-US" altLang="zh-CN" sz="1500">
                <a:solidFill>
                  <a:srgbClr val="101828"/>
                </a:solidFill>
              </a:rPr>
              <a:t>+25</a:t>
            </a:r>
            <a:r>
              <a:rPr lang="zh-CN" altLang="en-US" sz="1500">
                <a:solidFill>
                  <a:srgbClr val="101828"/>
                </a:solidFill>
              </a:rPr>
              <a:t>、突增</a:t>
            </a:r>
            <a:r>
              <a:rPr lang="en-US" altLang="zh-CN" sz="1500">
                <a:solidFill>
                  <a:srgbClr val="101828"/>
                </a:solidFill>
              </a:rPr>
              <a:t>+35…</a:t>
            </a:r>
            <a:r>
              <a:rPr lang="zh-CN" altLang="en-US" sz="1500">
                <a:solidFill>
                  <a:srgbClr val="101828"/>
                </a:solidFill>
              </a:rPr>
              <a:t>）≥</a:t>
            </a:r>
            <a:r>
              <a:rPr lang="en-US" altLang="zh-CN" sz="1500">
                <a:solidFill>
                  <a:srgbClr val="101828"/>
                </a:solidFill>
              </a:rPr>
              <a:t>40 </a:t>
            </a:r>
            <a:r>
              <a:rPr lang="zh-CN" altLang="en-US" sz="1500">
                <a:solidFill>
                  <a:srgbClr val="101828"/>
                </a:solidFill>
              </a:rPr>
              <a:t>分告警，独立复现数据中 </a:t>
            </a:r>
            <a:r>
              <a:rPr lang="en-US" altLang="zh-CN" sz="1500">
                <a:solidFill>
                  <a:srgbClr val="101828"/>
                </a:solidFill>
              </a:rPr>
              <a:t>4 </a:t>
            </a:r>
            <a:r>
              <a:rPr lang="zh-CN" altLang="en-US" sz="1500">
                <a:solidFill>
                  <a:srgbClr val="101828"/>
                </a:solidFill>
              </a:rPr>
              <a:t>笔预埋异常、零误报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动作层状态机：</a:t>
            </a:r>
            <a:r>
              <a:rPr lang="en-US" altLang="zh-CN" sz="1500">
                <a:solidFill>
                  <a:srgbClr val="101828"/>
                </a:solidFill>
              </a:rPr>
              <a:t>pending → done</a:t>
            </a:r>
            <a:r>
              <a:rPr lang="zh-CN" altLang="en-US" sz="1500">
                <a:solidFill>
                  <a:srgbClr val="101828"/>
                </a:solidFill>
              </a:rPr>
              <a:t>｜</a:t>
            </a:r>
            <a:r>
              <a:rPr lang="en-US" altLang="zh-CN" sz="1500">
                <a:solidFill>
                  <a:srgbClr val="101828"/>
                </a:solidFill>
              </a:rPr>
              <a:t>cancelled</a:t>
            </a:r>
            <a:r>
              <a:rPr lang="zh-CN" altLang="en-US" sz="1500">
                <a:solidFill>
                  <a:srgbClr val="101828"/>
                </a:solidFill>
              </a:rPr>
              <a:t>｜</a:t>
            </a:r>
            <a:r>
              <a:rPr lang="en-US" altLang="zh-CN" sz="1500">
                <a:solidFill>
                  <a:srgbClr val="101828"/>
                </a:solidFill>
              </a:rPr>
              <a:t>expired</a:t>
            </a:r>
            <a:r>
              <a:rPr lang="zh-CN" altLang="en-US" sz="1500">
                <a:solidFill>
                  <a:srgbClr val="101828"/>
                </a:solidFill>
              </a:rPr>
              <a:t>｜</a:t>
            </a:r>
            <a:r>
              <a:rPr lang="en-US" altLang="zh-CN" sz="1500">
                <a:solidFill>
                  <a:srgbClr val="101828"/>
                </a:solidFill>
              </a:rPr>
              <a:t>locked</a:t>
            </a:r>
            <a:r>
              <a:rPr lang="zh-CN" altLang="en-US" sz="1500">
                <a:solidFill>
                  <a:srgbClr val="101828"/>
                </a:solidFill>
              </a:rPr>
              <a:t>；未确认不动钱、执行前二次校验、防重放、可取消可回退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任务 </a:t>
            </a:r>
            <a:r>
              <a:rPr lang="en-US" altLang="zh-CN" sz="1500">
                <a:solidFill>
                  <a:srgbClr val="101828"/>
                </a:solidFill>
              </a:rPr>
              <a:t>DAG </a:t>
            </a:r>
            <a:r>
              <a:rPr lang="zh-CN" altLang="en-US" sz="1500">
                <a:solidFill>
                  <a:srgbClr val="101828"/>
                </a:solidFill>
              </a:rPr>
              <a:t>拆解：复杂请求拆成带依赖的子任务，按拓扑波次执行并在界面展示（如“第 </a:t>
            </a:r>
            <a:r>
              <a:rPr lang="en-US" altLang="zh-CN" sz="1500">
                <a:solidFill>
                  <a:srgbClr val="101828"/>
                </a:solidFill>
              </a:rPr>
              <a:t>1 </a:t>
            </a:r>
            <a:r>
              <a:rPr lang="zh-CN" altLang="en-US" sz="1500">
                <a:solidFill>
                  <a:srgbClr val="101828"/>
                </a:solidFill>
              </a:rPr>
              <a:t>波并行：账单分析 </a:t>
            </a:r>
            <a:r>
              <a:rPr lang="en-US" altLang="zh-CN" sz="1500">
                <a:solidFill>
                  <a:srgbClr val="101828"/>
                </a:solidFill>
              </a:rPr>
              <a:t>‖ </a:t>
            </a:r>
            <a:r>
              <a:rPr lang="zh-CN" altLang="en-US" sz="1500">
                <a:solidFill>
                  <a:srgbClr val="101828"/>
                </a:solidFill>
              </a:rPr>
              <a:t>异常识别”）</a:t>
            </a:r>
          </a:p>
        </p:txBody>
      </p:sp>
    </p:spTree>
    <p:extLst>
      <p:ext uri="{BB962C8B-B14F-4D97-AF65-F5344CB8AC3E}">
        <p14:creationId xmlns:p14="http://schemas.microsoft.com/office/powerpoint/2010/main" val="348117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BA8628-8DCF-7D5B-A09D-80C80CC1E468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A50FE6-4871-079F-56CA-4A6A66BD4715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现场演示高光：风控拦截 </a:t>
            </a:r>
            <a:r>
              <a:rPr lang="en-US" altLang="zh-CN" sz="2200" b="1">
                <a:solidFill>
                  <a:srgbClr val="FFFFFF"/>
                </a:solidFill>
              </a:rPr>
              <a:t>+ </a:t>
            </a:r>
            <a:r>
              <a:rPr lang="zh-CN" altLang="en-US" sz="2200" b="1">
                <a:solidFill>
                  <a:srgbClr val="FFFFFF"/>
                </a:solidFill>
              </a:rPr>
              <a:t>多因子确认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36BC64-8576-433E-C481-636264CC8A3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965200"/>
            <a:ext cx="5969000" cy="34036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BB4CE34-A951-A81A-A6A5-61E1678D5B96}"/>
              </a:ext>
            </a:extLst>
          </p:cNvPr>
          <p:cNvSpPr txBox="1"/>
          <p:nvPr/>
        </p:nvSpPr>
        <p:spPr>
          <a:xfrm>
            <a:off x="6667500" y="1016000"/>
            <a:ext cx="5080000" cy="21523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01828"/>
                </a:solidFill>
              </a:rPr>
              <a:t>高光 </a:t>
            </a:r>
            <a:r>
              <a:rPr lang="en-US" altLang="zh-CN" sz="1300">
                <a:solidFill>
                  <a:srgbClr val="101828"/>
                </a:solidFill>
              </a:rPr>
              <a:t>A · </a:t>
            </a:r>
            <a:r>
              <a:rPr lang="zh-CN" altLang="en-US" sz="1300">
                <a:solidFill>
                  <a:srgbClr val="101828"/>
                </a:solidFill>
              </a:rPr>
              <a:t>风控拦截：给陌生账户转 </a:t>
            </a:r>
            <a:r>
              <a:rPr lang="en-US" altLang="zh-CN" sz="1300">
                <a:solidFill>
                  <a:srgbClr val="101828"/>
                </a:solidFill>
              </a:rPr>
              <a:t>2 </a:t>
            </a:r>
            <a:r>
              <a:rPr lang="zh-CN" altLang="en-US" sz="1300">
                <a:solidFill>
                  <a:srgbClr val="101828"/>
                </a:solidFill>
              </a:rPr>
              <a:t>万（尾号命中涉诈黑名单）→ 直接拦截，不提供确认入口，提示拨打 </a:t>
            </a:r>
            <a:r>
              <a:rPr lang="en-US" altLang="zh-CN" sz="1300">
                <a:solidFill>
                  <a:srgbClr val="101828"/>
                </a:solidFill>
              </a:rPr>
              <a:t>96110</a:t>
            </a:r>
          </a:p>
          <a:p>
            <a:pPr>
              <a:lnSpc>
                <a:spcPct val="130000"/>
              </a:lnSpc>
            </a:pPr>
            <a:endParaRPr lang="en-US" altLang="zh-CN" sz="13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01828"/>
                </a:solidFill>
              </a:rPr>
              <a:t>高光 </a:t>
            </a:r>
            <a:r>
              <a:rPr lang="en-US" altLang="zh-CN" sz="1300">
                <a:solidFill>
                  <a:srgbClr val="101828"/>
                </a:solidFill>
              </a:rPr>
              <a:t>B · </a:t>
            </a:r>
            <a:r>
              <a:rPr lang="zh-CN" altLang="en-US" sz="1300">
                <a:solidFill>
                  <a:srgbClr val="101828"/>
                </a:solidFill>
              </a:rPr>
              <a:t>多因子：给妈妈转 </a:t>
            </a:r>
            <a:r>
              <a:rPr lang="en-US" altLang="zh-CN" sz="1300">
                <a:solidFill>
                  <a:srgbClr val="101828"/>
                </a:solidFill>
              </a:rPr>
              <a:t>2,000 → </a:t>
            </a:r>
            <a:r>
              <a:rPr lang="zh-CN" altLang="en-US" sz="1300">
                <a:solidFill>
                  <a:srgbClr val="101828"/>
                </a:solidFill>
              </a:rPr>
              <a:t>判定红色（当日累计超 </a:t>
            </a:r>
            <a:r>
              <a:rPr lang="en-US" altLang="zh-CN" sz="1300">
                <a:solidFill>
                  <a:srgbClr val="101828"/>
                </a:solidFill>
              </a:rPr>
              <a:t>¥1,000</a:t>
            </a:r>
            <a:r>
              <a:rPr lang="zh-CN" altLang="en-US" sz="1300">
                <a:solidFill>
                  <a:srgbClr val="101828"/>
                </a:solidFill>
              </a:rPr>
              <a:t>）→ 需短信验证码 </a:t>
            </a:r>
            <a:r>
              <a:rPr lang="en-US" altLang="zh-CN" sz="1300">
                <a:solidFill>
                  <a:srgbClr val="101828"/>
                </a:solidFill>
              </a:rPr>
              <a:t>+ </a:t>
            </a:r>
            <a:r>
              <a:rPr lang="zh-CN" altLang="en-US" sz="1300">
                <a:solidFill>
                  <a:srgbClr val="101828"/>
                </a:solidFill>
              </a:rPr>
              <a:t>人脸识别，两因子未齐时按钮禁用</a:t>
            </a:r>
          </a:p>
          <a:p>
            <a:pPr>
              <a:lnSpc>
                <a:spcPct val="130000"/>
              </a:lnSpc>
            </a:pPr>
            <a:endParaRPr lang="zh-CN" altLang="en-US" sz="13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300">
                <a:solidFill>
                  <a:srgbClr val="101828"/>
                </a:solidFill>
              </a:rPr>
              <a:t>高光 </a:t>
            </a:r>
            <a:r>
              <a:rPr lang="en-US" altLang="zh-CN" sz="1300">
                <a:solidFill>
                  <a:srgbClr val="101828"/>
                </a:solidFill>
              </a:rPr>
              <a:t>C · </a:t>
            </a:r>
            <a:r>
              <a:rPr lang="zh-CN" altLang="en-US" sz="1300">
                <a:solidFill>
                  <a:srgbClr val="101828"/>
                </a:solidFill>
              </a:rPr>
              <a:t>跨场景：一句“下周我妈生日” → 主动补问 → 锁定 </a:t>
            </a:r>
            <a:r>
              <a:rPr lang="en-US" altLang="zh-CN" sz="1300">
                <a:solidFill>
                  <a:srgbClr val="101828"/>
                </a:solidFill>
              </a:rPr>
              <a:t>¥500 → </a:t>
            </a:r>
            <a:r>
              <a:rPr lang="zh-CN" altLang="en-US" sz="1300">
                <a:solidFill>
                  <a:srgbClr val="101828"/>
                </a:solidFill>
              </a:rPr>
              <a:t>生日前 </a:t>
            </a:r>
            <a:r>
              <a:rPr lang="en-US" altLang="zh-CN" sz="1300">
                <a:solidFill>
                  <a:srgbClr val="101828"/>
                </a:solidFill>
              </a:rPr>
              <a:t>2 </a:t>
            </a:r>
            <a:r>
              <a:rPr lang="zh-CN" altLang="en-US" sz="1300">
                <a:solidFill>
                  <a:srgbClr val="101828"/>
                </a:solidFill>
              </a:rPr>
              <a:t>天自动下单（</a:t>
            </a:r>
            <a:r>
              <a:rPr lang="en-US" altLang="zh-CN" sz="1300">
                <a:solidFill>
                  <a:srgbClr val="101828"/>
                </a:solidFill>
              </a:rPr>
              <a:t>¥486</a:t>
            </a:r>
            <a:r>
              <a:rPr lang="zh-CN" altLang="en-US" sz="1300">
                <a:solidFill>
                  <a:srgbClr val="101828"/>
                </a:solidFill>
              </a:rPr>
              <a:t>，留 </a:t>
            </a:r>
            <a:r>
              <a:rPr lang="en-US" altLang="zh-CN" sz="1300">
                <a:solidFill>
                  <a:srgbClr val="101828"/>
                </a:solidFill>
              </a:rPr>
              <a:t>¥14</a:t>
            </a:r>
            <a:r>
              <a:rPr lang="zh-CN" altLang="en-US" sz="1300">
                <a:solidFill>
                  <a:srgbClr val="101828"/>
                </a:solidFill>
              </a:rPr>
              <a:t>） → 生成提醒</a:t>
            </a:r>
          </a:p>
        </p:txBody>
      </p:sp>
    </p:spTree>
    <p:extLst>
      <p:ext uri="{BB962C8B-B14F-4D97-AF65-F5344CB8AC3E}">
        <p14:creationId xmlns:p14="http://schemas.microsoft.com/office/powerpoint/2010/main" val="281012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87C30B2-42AF-A732-28A3-366C967529AA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523BD02-96B3-E4BD-979E-38A326C3B910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赛题对齐：逐条响应核心技术要求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1708F2-D827-7F86-E35F-4D5F19A0DCFD}"/>
              </a:ext>
            </a:extLst>
          </p:cNvPr>
          <p:cNvSpPr txBox="1"/>
          <p:nvPr/>
        </p:nvSpPr>
        <p:spPr>
          <a:xfrm>
            <a:off x="508000" y="1092200"/>
            <a:ext cx="11176000" cy="4269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权限分级（高）：✅ 绿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黄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红三级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当日累计 </a:t>
            </a:r>
            <a:r>
              <a:rPr lang="en-US" altLang="zh-CN" sz="1500">
                <a:solidFill>
                  <a:srgbClr val="101828"/>
                </a:solidFill>
              </a:rPr>
              <a:t>¥1,000 </a:t>
            </a:r>
            <a:r>
              <a:rPr lang="zh-CN" altLang="en-US" sz="1500">
                <a:solidFill>
                  <a:srgbClr val="101828"/>
                </a:solidFill>
              </a:rPr>
              <a:t>口径 </a:t>
            </a:r>
            <a:r>
              <a:rPr lang="en-US" altLang="zh-CN" sz="1500">
                <a:solidFill>
                  <a:srgbClr val="101828"/>
                </a:solidFill>
              </a:rPr>
              <a:t>+ </a:t>
            </a:r>
            <a:r>
              <a:rPr lang="zh-CN" altLang="en-US" sz="1500">
                <a:solidFill>
                  <a:srgbClr val="101828"/>
                </a:solidFill>
              </a:rPr>
              <a:t>多因子（短信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人脸可替换行内 </a:t>
            </a:r>
            <a:r>
              <a:rPr lang="en-US" altLang="zh-CN" sz="1500">
                <a:solidFill>
                  <a:srgbClr val="101828"/>
                </a:solidFill>
              </a:rPr>
              <a:t>SDK</a:t>
            </a:r>
            <a:r>
              <a:rPr lang="zh-CN" altLang="en-US" sz="1500">
                <a:solidFill>
                  <a:srgbClr val="101828"/>
                </a:solidFill>
              </a:rPr>
              <a:t>）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安全机制（高）：✅ 幻觉防护（数据只来自工具返回）｜✅ 注入防御｜✅ 操作审计含决策链路｜✅ 异常熔断｜✅ 无动态代码执行的沙箱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意图理解与任务规划：✅ 模糊表达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省略上下文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隐含意图｜✅ 子任务 </a:t>
            </a:r>
            <a:r>
              <a:rPr lang="en-US" altLang="zh-CN" sz="1500">
                <a:solidFill>
                  <a:srgbClr val="101828"/>
                </a:solidFill>
              </a:rPr>
              <a:t>DAG</a:t>
            </a:r>
            <a:r>
              <a:rPr lang="zh-CN" altLang="en-US" sz="1500">
                <a:solidFill>
                  <a:srgbClr val="101828"/>
                </a:solidFill>
              </a:rPr>
              <a:t>｜✅ 中断（取消确认）</a:t>
            </a:r>
            <a:r>
              <a:rPr lang="en-US" altLang="zh-CN" sz="1500">
                <a:solidFill>
                  <a:srgbClr val="101828"/>
                </a:solidFill>
              </a:rPr>
              <a:t>·</a:t>
            </a:r>
            <a:r>
              <a:rPr lang="zh-CN" altLang="en-US" sz="1500">
                <a:solidFill>
                  <a:srgbClr val="101828"/>
                </a:solidFill>
              </a:rPr>
              <a:t>回退（回退上一步）</a:t>
            </a:r>
            <a:r>
              <a:rPr lang="en-US" altLang="zh-CN" sz="1500">
                <a:solidFill>
                  <a:srgbClr val="101828"/>
                </a:solidFill>
              </a:rPr>
              <a:t>·</a:t>
            </a:r>
            <a:r>
              <a:rPr lang="zh-CN" altLang="en-US" sz="1500">
                <a:solidFill>
                  <a:srgbClr val="101828"/>
                </a:solidFill>
              </a:rPr>
              <a:t>人工接管（转人工工单）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场景覆盖：✅ 赛题 </a:t>
            </a:r>
            <a:r>
              <a:rPr lang="en-US" altLang="zh-CN" sz="1500">
                <a:solidFill>
                  <a:srgbClr val="101828"/>
                </a:solidFill>
              </a:rPr>
              <a:t>6 </a:t>
            </a:r>
            <a:r>
              <a:rPr lang="zh-CN" altLang="en-US" sz="1500">
                <a:solidFill>
                  <a:srgbClr val="101828"/>
                </a:solidFill>
              </a:rPr>
              <a:t>个场景全部落地（要求至少 </a:t>
            </a:r>
            <a:r>
              <a:rPr lang="en-US" altLang="zh-CN" sz="1500">
                <a:solidFill>
                  <a:srgbClr val="101828"/>
                </a:solidFill>
              </a:rPr>
              <a:t>3 </a:t>
            </a:r>
            <a:r>
              <a:rPr lang="zh-CN" altLang="en-US" sz="1500">
                <a:solidFill>
                  <a:srgbClr val="101828"/>
                </a:solidFill>
              </a:rPr>
              <a:t>个）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渠道：✅ </a:t>
            </a:r>
            <a:r>
              <a:rPr lang="en-US" altLang="zh-CN" sz="1500">
                <a:solidFill>
                  <a:srgbClr val="101828"/>
                </a:solidFill>
              </a:rPr>
              <a:t>APP </a:t>
            </a:r>
            <a:r>
              <a:rPr lang="zh-CN" altLang="en-US" sz="1500">
                <a:solidFill>
                  <a:srgbClr val="101828"/>
                </a:solidFill>
              </a:rPr>
              <a:t>主界面 </a:t>
            </a:r>
            <a:r>
              <a:rPr lang="en-US" altLang="zh-CN" sz="1500">
                <a:solidFill>
                  <a:srgbClr val="101828"/>
                </a:solidFill>
              </a:rPr>
              <a:t>+ IM </a:t>
            </a:r>
            <a:r>
              <a:rPr lang="zh-CN" altLang="en-US" sz="1500">
                <a:solidFill>
                  <a:srgbClr val="101828"/>
                </a:solidFill>
              </a:rPr>
              <a:t>文本通道（红色操作引导回 </a:t>
            </a:r>
            <a:r>
              <a:rPr lang="en-US" altLang="zh-CN" sz="1500">
                <a:solidFill>
                  <a:srgbClr val="101828"/>
                </a:solidFill>
              </a:rPr>
              <a:t>App </a:t>
            </a:r>
            <a:r>
              <a:rPr lang="zh-CN" altLang="en-US" sz="1500">
                <a:solidFill>
                  <a:srgbClr val="101828"/>
                </a:solidFill>
              </a:rPr>
              <a:t>完成现场因子）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渠道与可逆性：✅ </a:t>
            </a:r>
            <a:r>
              <a:rPr lang="en-US" altLang="zh-CN" sz="1500">
                <a:solidFill>
                  <a:srgbClr val="101828"/>
                </a:solidFill>
              </a:rPr>
              <a:t>APP </a:t>
            </a:r>
            <a:r>
              <a:rPr lang="zh-CN" altLang="en-US" sz="1500">
                <a:solidFill>
                  <a:srgbClr val="101828"/>
                </a:solidFill>
              </a:rPr>
              <a:t>主界面 </a:t>
            </a:r>
            <a:r>
              <a:rPr lang="en-US" altLang="zh-CN" sz="1500">
                <a:solidFill>
                  <a:srgbClr val="101828"/>
                </a:solidFill>
              </a:rPr>
              <a:t>+ IM </a:t>
            </a:r>
            <a:r>
              <a:rPr lang="zh-CN" altLang="en-US" sz="1500">
                <a:solidFill>
                  <a:srgbClr val="101828"/>
                </a:solidFill>
              </a:rPr>
              <a:t>文本通道；✅ 回退上一步 </a:t>
            </a:r>
            <a:r>
              <a:rPr lang="en-US" altLang="zh-CN" sz="1500">
                <a:solidFill>
                  <a:srgbClr val="101828"/>
                </a:solidFill>
              </a:rPr>
              <a:t>/ </a:t>
            </a:r>
            <a:r>
              <a:rPr lang="zh-CN" altLang="en-US" sz="1500">
                <a:solidFill>
                  <a:srgbClr val="101828"/>
                </a:solidFill>
              </a:rPr>
              <a:t>转人工接管；✅ 子任务 </a:t>
            </a:r>
            <a:r>
              <a:rPr lang="en-US" altLang="zh-CN" sz="1500">
                <a:solidFill>
                  <a:srgbClr val="101828"/>
                </a:solidFill>
              </a:rPr>
              <a:t>DAG </a:t>
            </a:r>
            <a:r>
              <a:rPr lang="zh-CN" altLang="en-US" sz="1500">
                <a:solidFill>
                  <a:srgbClr val="101828"/>
                </a:solidFill>
              </a:rPr>
              <a:t>拆解（赛题「中断、回退与人工接管」）</a:t>
            </a:r>
          </a:p>
        </p:txBody>
      </p:sp>
    </p:spTree>
    <p:extLst>
      <p:ext uri="{BB962C8B-B14F-4D97-AF65-F5344CB8AC3E}">
        <p14:creationId xmlns:p14="http://schemas.microsoft.com/office/powerpoint/2010/main" val="300215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A28FD71-62E6-6D6F-1C40-F4095773A0E5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C2887C-45D0-FFAD-4D02-79936AB93149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验证与质量：把“合规”变成“可验证”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8B7327-7190-FE96-5475-013CEA60E182}"/>
              </a:ext>
            </a:extLst>
          </p:cNvPr>
          <p:cNvSpPr txBox="1"/>
          <p:nvPr/>
        </p:nvSpPr>
        <p:spPr>
          <a:xfrm>
            <a:off x="508000" y="1092200"/>
            <a:ext cx="11176000" cy="306955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自动化验收：</a:t>
            </a:r>
            <a:r>
              <a:rPr lang="en-US" altLang="zh-CN" sz="1500">
                <a:solidFill>
                  <a:srgbClr val="101828"/>
                </a:solidFill>
              </a:rPr>
              <a:t>selftest 336 </a:t>
            </a:r>
            <a:r>
              <a:rPr lang="zh-CN" altLang="en-US" sz="1500">
                <a:solidFill>
                  <a:srgbClr val="101828"/>
                </a:solidFill>
              </a:rPr>
              <a:t>项 ✅｜真实链路与持久化专项 </a:t>
            </a:r>
            <a:r>
              <a:rPr lang="en-US" altLang="zh-CN" sz="1500">
                <a:solidFill>
                  <a:srgbClr val="101828"/>
                </a:solidFill>
              </a:rPr>
              <a:t>20 </a:t>
            </a:r>
            <a:r>
              <a:rPr lang="zh-CN" altLang="en-US" sz="1500">
                <a:solidFill>
                  <a:srgbClr val="101828"/>
                </a:solidFill>
              </a:rPr>
              <a:t>项 ✅｜六场景彩排 </a:t>
            </a:r>
            <a:r>
              <a:rPr lang="en-US" altLang="zh-CN" sz="1500">
                <a:solidFill>
                  <a:srgbClr val="101828"/>
                </a:solidFill>
              </a:rPr>
              <a:t>25 </a:t>
            </a:r>
            <a:r>
              <a:rPr lang="zh-CN" altLang="en-US" sz="1500">
                <a:solidFill>
                  <a:srgbClr val="101828"/>
                </a:solidFill>
              </a:rPr>
              <a:t>项 ✅｜安全探针（穿越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注入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泄露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监听面）全通过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数据真落盘：用独立进程读取磁盘文件证明持久化；服务重启后审计编号连续、台账与对话完整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不依赖预埋标记：异常识别独立复现全部 </a:t>
            </a:r>
            <a:r>
              <a:rPr lang="en-US" altLang="zh-CN" sz="1500">
                <a:solidFill>
                  <a:srgbClr val="101828"/>
                </a:solidFill>
              </a:rPr>
              <a:t>4 </a:t>
            </a:r>
            <a:r>
              <a:rPr lang="zh-CN" altLang="en-US" sz="1500">
                <a:solidFill>
                  <a:srgbClr val="101828"/>
                </a:solidFill>
              </a:rPr>
              <a:t>笔埋点且零误报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未确认不动钱：断言覆盖“生成待确认单余额不变”“取消后余额不变”“熔断期间即使因子正确也不放行”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演示可复现：一键彩排脚本按演示顺序跑完六场景并计时，预计现场总时长约 </a:t>
            </a:r>
            <a:r>
              <a:rPr lang="en-US" altLang="zh-CN" sz="1500">
                <a:solidFill>
                  <a:srgbClr val="101828"/>
                </a:solidFill>
              </a:rPr>
              <a:t>180 </a:t>
            </a:r>
            <a:r>
              <a:rPr lang="zh-CN" altLang="en-US" sz="1500">
                <a:solidFill>
                  <a:srgbClr val="101828"/>
                </a:solidFill>
              </a:rPr>
              <a:t>秒</a:t>
            </a:r>
          </a:p>
        </p:txBody>
      </p:sp>
    </p:spTree>
    <p:extLst>
      <p:ext uri="{BB962C8B-B14F-4D97-AF65-F5344CB8AC3E}">
        <p14:creationId xmlns:p14="http://schemas.microsoft.com/office/powerpoint/2010/main" val="887471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CA2A31-4996-A1C2-62A0-665A2EECDEAD}"/>
              </a:ext>
            </a:extLst>
          </p:cNvPr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13A99A-D199-2285-19B9-4CCCCB12169A}"/>
              </a:ext>
            </a:extLst>
          </p:cNvPr>
          <p:cNvSpPr txBox="1"/>
          <p:nvPr/>
        </p:nvSpPr>
        <p:spPr>
          <a:xfrm>
            <a:off x="508000" y="177800"/>
            <a:ext cx="11176000" cy="485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>
                <a:solidFill>
                  <a:srgbClr val="FFFFFF"/>
                </a:solidFill>
              </a:rPr>
              <a:t>落地价值与路径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D6F514-D4C8-BD83-F7E3-A5EDB4545EFE}"/>
              </a:ext>
            </a:extLst>
          </p:cNvPr>
          <p:cNvSpPr txBox="1"/>
          <p:nvPr/>
        </p:nvSpPr>
        <p:spPr>
          <a:xfrm>
            <a:off x="508000" y="1092200"/>
            <a:ext cx="11176000" cy="24693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对客户：把“找入口、填表单、读条款”压缩成一句话；同时避免被诈骗话术与高风险产品伤害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对银行：降低柜面与客服压力、提升年轻客群活跃度；把制度里的风控与适当性要求落成可运行、可审计的系统能力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能力可复用：适当性引擎（理财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代销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保险）、操作留痕与质检、账单洞察、以及作为行内其他 </a:t>
            </a:r>
            <a:r>
              <a:rPr lang="en-US" altLang="zh-CN" sz="1500">
                <a:solidFill>
                  <a:srgbClr val="101828"/>
                </a:solidFill>
              </a:rPr>
              <a:t>Agent </a:t>
            </a:r>
            <a:r>
              <a:rPr lang="zh-CN" altLang="en-US" sz="1500">
                <a:solidFill>
                  <a:srgbClr val="101828"/>
                </a:solidFill>
              </a:rPr>
              <a:t>的安全底座</a:t>
            </a:r>
          </a:p>
          <a:p>
            <a:pPr>
              <a:lnSpc>
                <a:spcPct val="130000"/>
              </a:lnSpc>
            </a:pPr>
            <a:endParaRPr lang="zh-CN" altLang="en-US" sz="1500">
              <a:solidFill>
                <a:srgbClr val="101828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1500">
                <a:solidFill>
                  <a:srgbClr val="101828"/>
                </a:solidFill>
              </a:rPr>
              <a:t>  </a:t>
            </a:r>
            <a:r>
              <a:rPr lang="en-US" altLang="zh-CN" sz="1500">
                <a:solidFill>
                  <a:srgbClr val="101828"/>
                </a:solidFill>
              </a:rPr>
              <a:t>- </a:t>
            </a:r>
            <a:r>
              <a:rPr lang="zh-CN" altLang="en-US" sz="1500">
                <a:solidFill>
                  <a:srgbClr val="101828"/>
                </a:solidFill>
              </a:rPr>
              <a:t>落地路径：①数据源替换（沙箱 → 行内账户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产品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反诈名单）②执行通道替换（动作层 → 核心系统</a:t>
            </a:r>
            <a:r>
              <a:rPr lang="en-US" altLang="zh-CN" sz="1500">
                <a:solidFill>
                  <a:srgbClr val="101828"/>
                </a:solidFill>
              </a:rPr>
              <a:t>/</a:t>
            </a:r>
            <a:r>
              <a:rPr lang="zh-CN" altLang="en-US" sz="1500">
                <a:solidFill>
                  <a:srgbClr val="101828"/>
                </a:solidFill>
              </a:rPr>
              <a:t>开放平台）③模型合规接入（私有化）④策略运营（规则与阈值集中在配置层）</a:t>
            </a:r>
          </a:p>
        </p:txBody>
      </p:sp>
    </p:spTree>
    <p:extLst>
      <p:ext uri="{BB962C8B-B14F-4D97-AF65-F5344CB8AC3E}">
        <p14:creationId xmlns:p14="http://schemas.microsoft.com/office/powerpoint/2010/main" val="71415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37CA5C-FD47-0B99-BB7D-1AB8EA7C0A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D8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6BD97-AE38-2866-5FD8-55E10BA48E0B}"/>
              </a:ext>
            </a:extLst>
          </p:cNvPr>
          <p:cNvSpPr txBox="1"/>
          <p:nvPr/>
        </p:nvSpPr>
        <p:spPr>
          <a:xfrm>
            <a:off x="889000" y="2667000"/>
            <a:ext cx="10414000" cy="59221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>
                <a:solidFill>
                  <a:srgbClr val="FFFFFF"/>
                </a:solidFill>
              </a:rPr>
              <a:t>该拦的拦得住，该拒的拒得掉，该办的一步到位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DA223CA-B827-D1CB-6E17-B87CACA90E66}"/>
              </a:ext>
            </a:extLst>
          </p:cNvPr>
          <p:cNvSpPr txBox="1"/>
          <p:nvPr/>
        </p:nvSpPr>
        <p:spPr>
          <a:xfrm>
            <a:off x="914400" y="3937000"/>
            <a:ext cx="10414000" cy="37798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>
                <a:solidFill>
                  <a:srgbClr val="E8F0FE"/>
                </a:solidFill>
              </a:rPr>
              <a:t>银枢 </a:t>
            </a:r>
            <a:r>
              <a:rPr lang="en-US" altLang="zh-CN" sz="1600">
                <a:solidFill>
                  <a:srgbClr val="E8F0FE"/>
                </a:solidFill>
              </a:rPr>
              <a:t>· AI</a:t>
            </a:r>
            <a:r>
              <a:rPr lang="zh-CN" altLang="en-US" sz="1600">
                <a:solidFill>
                  <a:srgbClr val="E8F0FE"/>
                </a:solidFill>
              </a:rPr>
              <a:t>银行副驾　</a:t>
            </a:r>
            <a:r>
              <a:rPr lang="en-US" altLang="zh-CN" sz="1600">
                <a:solidFill>
                  <a:srgbClr val="E8F0FE"/>
                </a:solidFill>
              </a:rPr>
              <a:t>|</a:t>
            </a:r>
            <a:r>
              <a:rPr lang="zh-CN" altLang="en-US" sz="1600">
                <a:solidFill>
                  <a:srgbClr val="E8F0FE"/>
                </a:solidFill>
              </a:rPr>
              <a:t>　谢谢，欢迎提问</a:t>
            </a:r>
          </a:p>
        </p:txBody>
      </p:sp>
    </p:spTree>
    <p:extLst>
      <p:ext uri="{BB962C8B-B14F-4D97-AF65-F5344CB8AC3E}">
        <p14:creationId xmlns:p14="http://schemas.microsoft.com/office/powerpoint/2010/main" val="9252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3690</Words>
  <Application>Microsoft Office PowerPoint</Application>
  <PresentationFormat>自定义</PresentationFormat>
  <Paragraphs>126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xh hx</dc:creator>
  <cp:lastModifiedBy>xh hx</cp:lastModifiedBy>
  <cp:revision>1</cp:revision>
  <dcterms:created xsi:type="dcterms:W3CDTF">2026-09-23T13:22:48Z</dcterms:created>
  <dcterms:modified xsi:type="dcterms:W3CDTF">2026-09-23T13:22:48Z</dcterms:modified>
</cp:coreProperties>
</file>