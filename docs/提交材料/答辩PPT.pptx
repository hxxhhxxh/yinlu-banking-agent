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4F6C53-26F5-48E8-B1C8-0019853847D6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F542EC-6771-454B-8AA4-C6BBEEA521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8761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【0:00-0:25】</a:t>
            </a:r>
            <a:r>
              <a:rPr lang="zh-CN" altLang="en-US"/>
              <a:t>开场一句话：银枢</a:t>
            </a:r>
            <a:r>
              <a:rPr lang="en-US" altLang="zh-CN"/>
              <a:t>·AI</a:t>
            </a:r>
            <a:r>
              <a:rPr lang="zh-CN" altLang="en-US"/>
              <a:t>银行副驾，让用户用一句大白话办完银行业务，同时把风控与适当性做成 </a:t>
            </a:r>
            <a:r>
              <a:rPr lang="en-US" altLang="zh-CN"/>
              <a:t>AI </a:t>
            </a:r>
            <a:r>
              <a:rPr lang="zh-CN" altLang="en-US"/>
              <a:t>的能力边界</a:t>
            </a:r>
            <a:r>
              <a:rPr lang="en-US" altLang="zh-CN"/>
              <a:t>——</a:t>
            </a:r>
            <a:r>
              <a:rPr lang="zh-CN" altLang="en-US"/>
              <a:t>而不是免责声明。今天我用 </a:t>
            </a:r>
            <a:r>
              <a:rPr lang="en-US" altLang="zh-CN"/>
              <a:t>8 </a:t>
            </a:r>
            <a:r>
              <a:rPr lang="zh-CN" altLang="en-US"/>
              <a:t>分钟讲清三件事：我们做了什么、安全上怎么证明、以及能落到哪里。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1444724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【0:25-1:10】</a:t>
            </a:r>
            <a:r>
              <a:rPr lang="zh-CN" altLang="en-US"/>
              <a:t>这一页是立论。评委关心的是：为什么又多一个 </a:t>
            </a:r>
            <a:r>
              <a:rPr lang="en-US" altLang="zh-CN"/>
              <a:t>AI </a:t>
            </a:r>
            <a:r>
              <a:rPr lang="zh-CN" altLang="en-US"/>
              <a:t>客服？我们的区别在于</a:t>
            </a:r>
            <a:r>
              <a:rPr lang="en-US" altLang="zh-CN"/>
              <a:t>——</a:t>
            </a:r>
            <a:r>
              <a:rPr lang="zh-CN" altLang="en-US"/>
              <a:t>我们不是问答机器人，而是能真实扣款、能拦截、能撤销，并且该拒绝时不含糊的执行型助手。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93057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【1:10-2:10】</a:t>
            </a:r>
            <a:r>
              <a:rPr lang="zh-CN" altLang="en-US"/>
              <a:t>六场景一次讲完，重点落在两个“不像客服”的地方：①跨场景联动是一个对话里完成“锁定资金 → 预约下单 → 提醒”；②理财是我问它“挑收益最高的”，它却因为适当性把高收益产品屏蔽了。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62299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【2:10-2:45】</a:t>
            </a:r>
            <a:r>
              <a:rPr lang="zh-CN" altLang="en-US"/>
              <a:t>这里强调“同一套内核、多个通道”。</a:t>
            </a:r>
            <a:r>
              <a:rPr lang="en-US" altLang="zh-CN"/>
              <a:t>IM </a:t>
            </a:r>
            <a:r>
              <a:rPr lang="zh-CN" altLang="en-US"/>
              <a:t>渠道是我们刻意做的取舍：文本通道不做人脸，红色操作一律引导到 </a:t>
            </a:r>
            <a:r>
              <a:rPr lang="en-US" altLang="zh-CN"/>
              <a:t>App——</a:t>
            </a:r>
            <a:r>
              <a:rPr lang="zh-CN" altLang="en-US"/>
              <a:t>因为现场因子不能被文本替代，否则多因子就形同虚设。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54787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【2:45-4:00】</a:t>
            </a:r>
            <a:r>
              <a:rPr lang="zh-CN" altLang="en-US"/>
              <a:t>这是赛题“高优先级”的第一条，也是我们最下功夫的地方。特别说明两点：转账按“当日累计”而不是单笔；红色操作即使你知道验证码，没有人脸也执行不了。界面上会直接写出分级依据，比如“当日累计转账 </a:t>
            </a:r>
            <a:r>
              <a:rPr lang="en-US" altLang="zh-CN"/>
              <a:t>¥2,000 </a:t>
            </a:r>
            <a:r>
              <a:rPr lang="zh-CN" altLang="en-US"/>
              <a:t>超过 </a:t>
            </a:r>
            <a:r>
              <a:rPr lang="en-US" altLang="zh-CN"/>
              <a:t>¥1,000”</a:t>
            </a:r>
            <a:r>
              <a:rPr lang="zh-CN" altLang="en-US"/>
              <a:t>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15270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【4:00-5:10】</a:t>
            </a:r>
            <a:r>
              <a:rPr lang="zh-CN" altLang="en-US"/>
              <a:t>注入防御这页评委常问。我们的答案不是“提示词写得狠”，而是结构上不给你绕过的可能：工具是白名单、门禁在服务端、资金变动必须经过用户多因子确认。所以即使模型被诱导，也没有“直接执行”的路径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098691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【5:10-5:50】</a:t>
            </a:r>
            <a:r>
              <a:rPr lang="zh-CN" altLang="en-US"/>
              <a:t>一句话讲架构：把“智能”和“动钱”彻底分开。模型再聪明也只能提出申请，真正扣款只发生在动作层，而且必须经过用户确认与执行前二次校验。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71032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【5:50-6:50】</a:t>
            </a:r>
            <a:r>
              <a:rPr lang="zh-CN" altLang="en-US"/>
              <a:t>这一页是技术分量。特别强调“独立复现”：数据里预埋了 </a:t>
            </a:r>
            <a:r>
              <a:rPr lang="en-US" altLang="zh-CN"/>
              <a:t>4 </a:t>
            </a:r>
            <a:r>
              <a:rPr lang="zh-CN" altLang="en-US"/>
              <a:t>笔异常，我们的评分引擎在 </a:t>
            </a:r>
            <a:r>
              <a:rPr lang="en-US" altLang="zh-CN"/>
              <a:t>303 </a:t>
            </a:r>
            <a:r>
              <a:rPr lang="zh-CN" altLang="en-US"/>
              <a:t>笔流水里恰好认出这 </a:t>
            </a:r>
            <a:r>
              <a:rPr lang="en-US" altLang="zh-CN"/>
              <a:t>4 </a:t>
            </a:r>
            <a:r>
              <a:rPr lang="zh-CN" altLang="en-US"/>
              <a:t>笔且没有误报</a:t>
            </a:r>
            <a:r>
              <a:rPr lang="en-US" altLang="zh-CN"/>
              <a:t>——</a:t>
            </a:r>
            <a:r>
              <a:rPr lang="zh-CN" altLang="en-US"/>
              <a:t>这说明识别能力是真的，不是照着标签念。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0392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【6:50-7:50】</a:t>
            </a:r>
            <a:r>
              <a:rPr lang="zh-CN" altLang="en-US"/>
              <a:t>演示环节（现场跑或放视频）。三个高光按顺序：拦截 → 多因子 → 跨场景。讲拦截时强调“它没有让我确认，是直接拦住了”；讲多因子时强调“两个因子没齐，确认按钮点不动”。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422012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【7:50-8:30】</a:t>
            </a:r>
            <a:r>
              <a:rPr lang="zh-CN" altLang="en-US"/>
              <a:t>这一页直接对着评分表讲，省评委时间。每一行都能在系统里当场验证，我也准备了自测清单：</a:t>
            </a:r>
            <a:r>
              <a:rPr lang="en-US" altLang="zh-CN"/>
              <a:t>329 </a:t>
            </a:r>
            <a:r>
              <a:rPr lang="zh-CN" altLang="en-US"/>
              <a:t>项断言 </a:t>
            </a:r>
            <a:r>
              <a:rPr lang="en-US" altLang="zh-CN"/>
              <a:t>+ </a:t>
            </a:r>
            <a:r>
              <a:rPr lang="zh-CN" altLang="en-US"/>
              <a:t>专项验证。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4402782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【8:30-9:10】</a:t>
            </a:r>
            <a:r>
              <a:rPr lang="zh-CN" altLang="en-US"/>
              <a:t>这页是信任状。我们不做“演示专用逻辑”：金额变动都发生在真实账本上，每一条安全机制都有对应断言。评委可以现场抽查任何一条。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203008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【9:10-9:40】</a:t>
            </a:r>
            <a:r>
              <a:rPr lang="zh-CN" altLang="en-US"/>
              <a:t>讲落地时点明“只差数据源与执行通道”：风控规则、适当性、确认流程、留痕都已模块化，替换成本低，这也是我们能给银行带来的工程价值。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1449711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/>
              <a:t>【9:40-10:00】</a:t>
            </a:r>
            <a:r>
              <a:rPr lang="zh-CN" altLang="en-US"/>
              <a:t>收尾停在这句话上，然后停在“安全中心”操作日志页面，方便评委看留痕。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F542EC-6771-454B-8AA4-C6BBEEA52160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41032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D32FC04-27A6-1324-26A5-145CEFC814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81DC225-FA59-CECC-2B13-B4C444D0C6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D9F6E13-1557-2D14-F0CB-8F40CBC7C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001ECA4-395B-61ED-9CB0-95067A0C89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969C8F4-8ABC-AA3D-1AC7-71F59892D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627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D5615B-0C9D-676E-B1FA-1D705F370F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3841DF6-7064-8D26-09B4-4683E90CD6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3DED831-3141-0337-B7A8-472343CC00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C91E79A-C900-F0D2-4517-0733D8F00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E0C45-79FC-3CCE-CFF2-9C12F49ADF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8401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C85E37-CB00-860E-AB9C-BB5D29CEB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71943F1-41F7-5B1D-E80E-BFDEE7AF85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2588F4-5913-A821-9B3D-A84C6AB909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D08E3B6-ADA5-71C1-0BC9-36EB6AF7D4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2BE140-909B-7663-BBC3-1EC1230504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815014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495EFF-174B-4B15-0B24-5580A0F13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6F422D5-78AC-8F05-33F8-495A3359337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723F31D-7F64-4F92-A7B0-E79D86D4C2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DF5DED3-C6DA-F83C-B706-E99C0739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B240A57-A448-E80E-430C-7B618DEE56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F925F7A-29D2-3D8B-D7FB-6FE7A0B3E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838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75A889-3F7B-3C1E-3778-76F1FFE0F5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91641CF-2C0D-4760-007A-27619E99FF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AA88357-C5C1-7F3C-A6BC-390FDCEB26E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1A14493F-610C-0239-3C9D-9ACC9B204D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4F03434-7087-0282-7E76-261E3F528B2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31E33CF-9B8C-AED2-2F3A-AC1C24AF7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53194E6-4318-6A7C-E43E-5F2F7EDBA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B1877D88-CE6B-58EE-6997-C1DE89506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589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0CA327-3A05-BB14-E15E-A51EAF6A0F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E2BA67E-2680-9062-0E2C-64275E139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0EAEB0E-0768-4CE0-7106-90D1960C2E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ABC425-09DF-C420-64EF-826B36B70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2127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5BABF53A-60B4-3863-8021-CA8B10DA80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32F0B97-0357-FB80-8E30-5D57B59616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6DB21C4-DAB5-D57A-4D06-80B9FA5CF3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188747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CD0CC28-2532-846B-824F-C23DE51C8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3610003-D9DC-247E-0692-09958BBF5C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49CBB7E-DBEF-A82F-BA41-FB7362249C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D5EE8FA-3933-9AB9-E7FF-79FDD05F6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BEE64EC-E43A-6146-9522-355F1D219A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D5A44A5-624F-31D2-A2FA-2E6BA17B86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842345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668DD6A-D0BB-0EF7-DE8A-C30D803266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43264C4-9F2D-B225-BBE8-BBE928669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EB15FA8-EF59-894D-A1B3-6415C89F2A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C5B38B1-D30B-677D-0D64-D4A9C069E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FD5B125-F1DE-8914-0B7C-759B97ACB9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2B78B5F-AE5C-A7A2-6F0D-7BC8C4B12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3442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CBC84C-473B-DC0B-21B3-C94EE90C3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4C07DD3-B305-B22E-6A5D-A2476BBAFA8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B477FEF-FF4A-2073-C03D-CDBF14AAF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A776AAD-F3CD-A0A7-DAC7-347CEBC7F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A659D7-B659-2B90-6883-66870910F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0034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D5D046-7FB0-0DF4-3FAE-93B511B8E9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CC7A44B-4805-8A20-9B88-EF2F1080A8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34D671-C42F-5436-3E2B-7F3EE0DB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4B8A8E2-6B83-2576-DE09-AD16EB3B9B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EA01027-884D-5232-A0EE-7A750446E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851120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B9E3B21B-2E73-6969-97C8-ED1E93CE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71F9A5-FFE2-E211-B86D-982E886FE0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FDA16B9-B1B2-C50A-712F-4DBB0DC89C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E706D5-8B20-4F05-BE41-D342EF88F631}" type="datetimeFigureOut">
              <a:rPr lang="zh-CN" altLang="en-US" smtClean="0"/>
              <a:t>2026/9/22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2C6F860-612D-BD89-9EEE-9776CD95E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E75212C-C329-DF55-BD4D-331A8B119B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A24213B-46FC-451A-8A57-C8A7998794E3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216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0E0FBDF-BE21-2A25-E18D-43BBACE1BCBB}"/>
              </a:ext>
            </a:extLst>
          </p:cNvPr>
          <p:cNvSpPr/>
          <p:nvPr/>
        </p:nvSpPr>
        <p:spPr>
          <a:xfrm>
            <a:off x="0" y="0"/>
            <a:ext cx="12192000" cy="31750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DB50AEC9-E9C8-557D-3B2C-C835D1340498}"/>
              </a:ext>
            </a:extLst>
          </p:cNvPr>
          <p:cNvSpPr txBox="1"/>
          <p:nvPr/>
        </p:nvSpPr>
        <p:spPr>
          <a:xfrm>
            <a:off x="889000" y="889000"/>
            <a:ext cx="10414000" cy="80643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4000" b="1">
                <a:solidFill>
                  <a:srgbClr val="FFFFFF"/>
                </a:solidFill>
              </a:rPr>
              <a:t>银枢 </a:t>
            </a:r>
            <a:r>
              <a:rPr lang="en-US" altLang="zh-CN" sz="4000" b="1">
                <a:solidFill>
                  <a:srgbClr val="FFFFFF"/>
                </a:solidFill>
              </a:rPr>
              <a:t>· AI</a:t>
            </a:r>
            <a:r>
              <a:rPr lang="zh-CN" altLang="en-US" sz="4000" b="1">
                <a:solidFill>
                  <a:srgbClr val="FFFFFF"/>
                </a:solidFill>
              </a:rPr>
              <a:t>银行副驾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9A1ABEC0-193D-E41A-4C53-C7A53495851A}"/>
              </a:ext>
            </a:extLst>
          </p:cNvPr>
          <p:cNvSpPr txBox="1"/>
          <p:nvPr/>
        </p:nvSpPr>
        <p:spPr>
          <a:xfrm>
            <a:off x="914400" y="1778000"/>
            <a:ext cx="10160000" cy="39587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700">
                <a:solidFill>
                  <a:srgbClr val="E8F0FE"/>
                </a:solidFill>
              </a:rPr>
              <a:t>安全优先的智能金融助手 </a:t>
            </a:r>
            <a:r>
              <a:rPr lang="en-US" altLang="zh-CN" sz="1700">
                <a:solidFill>
                  <a:srgbClr val="E8F0FE"/>
                </a:solidFill>
              </a:rPr>
              <a:t>—— </a:t>
            </a:r>
            <a:r>
              <a:rPr lang="zh-CN" altLang="en-US" sz="1700">
                <a:solidFill>
                  <a:srgbClr val="E8F0FE"/>
                </a:solidFill>
              </a:rPr>
              <a:t>一句话办完业务，涉及钱的每一步都守得住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D459B196-B0DB-D8CB-B95D-2E32B10AC31D}"/>
              </a:ext>
            </a:extLst>
          </p:cNvPr>
          <p:cNvSpPr txBox="1"/>
          <p:nvPr/>
        </p:nvSpPr>
        <p:spPr>
          <a:xfrm>
            <a:off x="914400" y="3619500"/>
            <a:ext cx="10414000" cy="3243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300">
                <a:solidFill>
                  <a:srgbClr val="667085"/>
                </a:solidFill>
              </a:rPr>
              <a:t>参赛团队：银枢小队　</a:t>
            </a:r>
            <a:r>
              <a:rPr lang="en-US" altLang="zh-CN" sz="1300">
                <a:solidFill>
                  <a:srgbClr val="667085"/>
                </a:solidFill>
              </a:rPr>
              <a:t>|</a:t>
            </a:r>
            <a:r>
              <a:rPr lang="zh-CN" altLang="en-US" sz="1300">
                <a:solidFill>
                  <a:srgbClr val="667085"/>
                </a:solidFill>
              </a:rPr>
              <a:t>　作品类型：银行 </a:t>
            </a:r>
            <a:r>
              <a:rPr lang="en-US" altLang="zh-CN" sz="1300">
                <a:solidFill>
                  <a:srgbClr val="667085"/>
                </a:solidFill>
              </a:rPr>
              <a:t>AI </a:t>
            </a:r>
            <a:r>
              <a:rPr lang="zh-CN" altLang="en-US" sz="1300">
                <a:solidFill>
                  <a:srgbClr val="667085"/>
                </a:solidFill>
              </a:rPr>
              <a:t>智能体（</a:t>
            </a:r>
            <a:r>
              <a:rPr lang="en-US" altLang="zh-CN" sz="1300">
                <a:solidFill>
                  <a:srgbClr val="667085"/>
                </a:solidFill>
              </a:rPr>
              <a:t>AI Banking Agent</a:t>
            </a:r>
            <a:r>
              <a:rPr lang="zh-CN" altLang="en-US" sz="1300">
                <a:solidFill>
                  <a:srgbClr val="667085"/>
                </a:solidFill>
              </a:rPr>
              <a:t>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E145140-B800-A6D6-C3A5-4E55C8D636F6}"/>
              </a:ext>
            </a:extLst>
          </p:cNvPr>
          <p:cNvSpPr/>
          <p:nvPr/>
        </p:nvSpPr>
        <p:spPr>
          <a:xfrm>
            <a:off x="914400" y="4254500"/>
            <a:ext cx="1143000" cy="63500"/>
          </a:xfrm>
          <a:prstGeom prst="rect">
            <a:avLst/>
          </a:prstGeom>
          <a:solidFill>
            <a:srgbClr val="0B4FA8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19D0BF5-19A1-2639-F63B-589A61072F27}"/>
              </a:ext>
            </a:extLst>
          </p:cNvPr>
          <p:cNvSpPr txBox="1"/>
          <p:nvPr/>
        </p:nvSpPr>
        <p:spPr>
          <a:xfrm>
            <a:off x="914400" y="4635500"/>
            <a:ext cx="10414000" cy="3422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400">
                <a:solidFill>
                  <a:srgbClr val="101828"/>
                </a:solidFill>
              </a:rPr>
              <a:t>赛题：构建银行 </a:t>
            </a:r>
            <a:r>
              <a:rPr lang="en-US" altLang="zh-CN" sz="1400">
                <a:solidFill>
                  <a:srgbClr val="101828"/>
                </a:solidFill>
              </a:rPr>
              <a:t>AI </a:t>
            </a:r>
            <a:r>
              <a:rPr lang="zh-CN" altLang="en-US" sz="1400">
                <a:solidFill>
                  <a:srgbClr val="101828"/>
                </a:solidFill>
              </a:rPr>
              <a:t>智能体，自主理解意图、规划任务链路，并在严格的安全框架内完成银行业务操作。</a:t>
            </a:r>
          </a:p>
        </p:txBody>
      </p:sp>
    </p:spTree>
    <p:extLst>
      <p:ext uri="{BB962C8B-B14F-4D97-AF65-F5344CB8AC3E}">
        <p14:creationId xmlns:p14="http://schemas.microsoft.com/office/powerpoint/2010/main" val="21229227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685171AA-1914-D425-7DAB-C018F1D08416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512BDDC-1801-295C-89D3-CF34112A101B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赛题与痛点：为什么需要“有边界”的银行 </a:t>
            </a:r>
            <a:r>
              <a:rPr lang="en-US" altLang="zh-CN" sz="2200" b="1">
                <a:solidFill>
                  <a:srgbClr val="FFFFFF"/>
                </a:solidFill>
              </a:rPr>
              <a:t>Agent</a:t>
            </a:r>
            <a:endParaRPr lang="zh-CN" altLang="en-US" sz="2200" b="1">
              <a:solidFill>
                <a:srgbClr val="FFFFFF"/>
              </a:solidFill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75C4ADB8-2F8D-C9C0-C871-9E3B85BE116F}"/>
              </a:ext>
            </a:extLst>
          </p:cNvPr>
          <p:cNvSpPr txBox="1"/>
          <p:nvPr/>
        </p:nvSpPr>
        <p:spPr>
          <a:xfrm>
            <a:off x="508000" y="1092200"/>
            <a:ext cx="11176000" cy="216931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传统手机银行：入口深、路径长，一笔转账常常 </a:t>
            </a:r>
            <a:r>
              <a:rPr lang="en-US" altLang="zh-CN" sz="1500">
                <a:solidFill>
                  <a:srgbClr val="101828"/>
                </a:solidFill>
              </a:rPr>
              <a:t>3 </a:t>
            </a:r>
            <a:r>
              <a:rPr lang="zh-CN" altLang="en-US" sz="1500">
                <a:solidFill>
                  <a:srgbClr val="101828"/>
                </a:solidFill>
              </a:rPr>
              <a:t>步以上；用户找不到、不放心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风险防护弱：风险提示一划而过；适当性靠客户自己“点过确认”；诈骗事后才发现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通用大模型直接接银行：会“听话地”执行越权指令，幻觉与注入风险无法承受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我们的答案：把“风控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适当性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全程留痕”做进 </a:t>
            </a:r>
            <a:r>
              <a:rPr lang="en-US" altLang="zh-CN" sz="1500">
                <a:solidFill>
                  <a:srgbClr val="101828"/>
                </a:solidFill>
              </a:rPr>
              <a:t>Agent </a:t>
            </a:r>
            <a:r>
              <a:rPr lang="zh-CN" altLang="en-US" sz="1500">
                <a:solidFill>
                  <a:srgbClr val="101828"/>
                </a:solidFill>
              </a:rPr>
              <a:t>的运行时，让 </a:t>
            </a:r>
            <a:r>
              <a:rPr lang="en-US" altLang="zh-CN" sz="1500">
                <a:solidFill>
                  <a:srgbClr val="101828"/>
                </a:solidFill>
              </a:rPr>
              <a:t>AI </a:t>
            </a:r>
            <a:r>
              <a:rPr lang="zh-CN" altLang="en-US" sz="1500">
                <a:solidFill>
                  <a:srgbClr val="101828"/>
                </a:solidFill>
              </a:rPr>
              <a:t>能把事办完，但办不了不该办的事</a:t>
            </a:r>
          </a:p>
        </p:txBody>
      </p:sp>
    </p:spTree>
    <p:extLst>
      <p:ext uri="{BB962C8B-B14F-4D97-AF65-F5344CB8AC3E}">
        <p14:creationId xmlns:p14="http://schemas.microsoft.com/office/powerpoint/2010/main" val="3561177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ACE7C3E-8197-A2C3-D395-589F6B7DD0B4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46655EE3-CD80-D3CD-375C-0C7A6D6BC8AB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产品方案：六大核心场景（赛题鼓励全覆盖，我们全部落地）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236094B0-9C6E-D961-6ACF-17FC03422DF8}"/>
              </a:ext>
            </a:extLst>
          </p:cNvPr>
          <p:cNvSpPr txBox="1"/>
          <p:nvPr/>
        </p:nvSpPr>
        <p:spPr>
          <a:xfrm>
            <a:off x="508000" y="1092200"/>
            <a:ext cx="11176000" cy="33696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智能转账：按人名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称谓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手机号尾号找收款人；转账前展示收款人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开户行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金额；定时转账、</a:t>
            </a:r>
            <a:r>
              <a:rPr lang="en-US" altLang="zh-CN" sz="1500">
                <a:solidFill>
                  <a:srgbClr val="101828"/>
                </a:solidFill>
              </a:rPr>
              <a:t>AA </a:t>
            </a:r>
            <a:r>
              <a:rPr lang="zh-CN" altLang="en-US" sz="1500">
                <a:solidFill>
                  <a:srgbClr val="101828"/>
                </a:solidFill>
              </a:rPr>
              <a:t>拆分、</a:t>
            </a:r>
            <a:r>
              <a:rPr lang="en-US" altLang="zh-CN" sz="1500">
                <a:solidFill>
                  <a:srgbClr val="101828"/>
                </a:solidFill>
              </a:rPr>
              <a:t>T+0 </a:t>
            </a:r>
            <a:r>
              <a:rPr lang="zh-CN" altLang="en-US" sz="1500">
                <a:solidFill>
                  <a:srgbClr val="101828"/>
                </a:solidFill>
              </a:rPr>
              <a:t>撤销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账单分析：分类统计、环比、消费时段；年度报告；评分制异常识别（深夜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异地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境外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金额突增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超大额）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理财操作：</a:t>
            </a:r>
            <a:r>
              <a:rPr lang="en-US" altLang="zh-CN" sz="1500">
                <a:solidFill>
                  <a:srgbClr val="101828"/>
                </a:solidFill>
              </a:rPr>
              <a:t>5 </a:t>
            </a:r>
            <a:r>
              <a:rPr lang="zh-CN" altLang="en-US" sz="1500">
                <a:solidFill>
                  <a:srgbClr val="101828"/>
                </a:solidFill>
              </a:rPr>
              <a:t>题风险测评 → 适当性过滤 → 推荐对比 → 一键申购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赎回（含风险提示朗读）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卡片管理：实体卡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虚拟卡申请、额度调整、交易限额、冻结解冻、挂失与解挂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订阅管理：从流水自动识别周期性扣费、续费倒计时提醒、一键取消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跨场景联动：一句话安排生日 → 主动补问 → 当月锁定资金 → 生日前 </a:t>
            </a:r>
            <a:r>
              <a:rPr lang="en-US" altLang="zh-CN" sz="1500">
                <a:solidFill>
                  <a:srgbClr val="101828"/>
                </a:solidFill>
              </a:rPr>
              <a:t>2 </a:t>
            </a:r>
            <a:r>
              <a:rPr lang="zh-CN" altLang="en-US" sz="1500">
                <a:solidFill>
                  <a:srgbClr val="101828"/>
                </a:solidFill>
              </a:rPr>
              <a:t>天自动下单 → 生成提醒</a:t>
            </a:r>
          </a:p>
        </p:txBody>
      </p:sp>
    </p:spTree>
    <p:extLst>
      <p:ext uri="{BB962C8B-B14F-4D97-AF65-F5344CB8AC3E}">
        <p14:creationId xmlns:p14="http://schemas.microsoft.com/office/powerpoint/2010/main" val="41300681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F60F9F6-0422-A990-0ECA-AAE873D885E0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F873731-0B5B-863B-92A7-95ECE985F0DC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交付形态：</a:t>
            </a:r>
            <a:r>
              <a:rPr lang="en-US" altLang="zh-CN" sz="2200" b="1">
                <a:solidFill>
                  <a:srgbClr val="FFFFFF"/>
                </a:solidFill>
              </a:rPr>
              <a:t>APP </a:t>
            </a:r>
            <a:r>
              <a:rPr lang="zh-CN" altLang="en-US" sz="2200" b="1">
                <a:solidFill>
                  <a:srgbClr val="FFFFFF"/>
                </a:solidFill>
              </a:rPr>
              <a:t>主界面 </a:t>
            </a:r>
            <a:r>
              <a:rPr lang="en-US" altLang="zh-CN" sz="2200" b="1">
                <a:solidFill>
                  <a:srgbClr val="FFFFFF"/>
                </a:solidFill>
              </a:rPr>
              <a:t>+ IM </a:t>
            </a:r>
            <a:r>
              <a:rPr lang="zh-CN" altLang="en-US" sz="2200" b="1">
                <a:solidFill>
                  <a:srgbClr val="FFFFFF"/>
                </a:solidFill>
              </a:rPr>
              <a:t>渠道，同一套 </a:t>
            </a:r>
            <a:r>
              <a:rPr lang="en-US" altLang="zh-CN" sz="2200" b="1">
                <a:solidFill>
                  <a:srgbClr val="FFFFFF"/>
                </a:solidFill>
              </a:rPr>
              <a:t>Agent </a:t>
            </a:r>
            <a:r>
              <a:rPr lang="zh-CN" altLang="en-US" sz="2200" b="1">
                <a:solidFill>
                  <a:srgbClr val="FFFFFF"/>
                </a:solidFill>
              </a:rPr>
              <a:t>内核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FA6644A-C14B-CA9A-38BD-C04D20F74382}"/>
              </a:ext>
            </a:extLst>
          </p:cNvPr>
          <p:cNvSpPr txBox="1"/>
          <p:nvPr/>
        </p:nvSpPr>
        <p:spPr>
          <a:xfrm>
            <a:off x="508000" y="1092200"/>
            <a:ext cx="11176000" cy="216931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左侧智能对话：思考过程可见（理解意图 → 任务规划 → 调用工具 → 结果反馈），每步可展开“为什么这么做”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右侧仿真手机银行：卡片、账单异常、订阅代扣、理财持仓、卡片业务随对话实时联动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待确认卡片：展示关键信息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分级标识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风险提示朗读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取消入口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IM </a:t>
            </a:r>
            <a:r>
              <a:rPr lang="zh-CN" altLang="en-US" sz="1500">
                <a:solidFill>
                  <a:srgbClr val="101828"/>
                </a:solidFill>
              </a:rPr>
              <a:t>渠道演示：企业 </a:t>
            </a:r>
            <a:r>
              <a:rPr lang="en-US" altLang="zh-CN" sz="1500">
                <a:solidFill>
                  <a:srgbClr val="101828"/>
                </a:solidFill>
              </a:rPr>
              <a:t>IM </a:t>
            </a:r>
            <a:r>
              <a:rPr lang="zh-CN" altLang="en-US" sz="1500">
                <a:solidFill>
                  <a:srgbClr val="101828"/>
                </a:solidFill>
              </a:rPr>
              <a:t>文本通道接入同一内核（查询直接答、黄色操作文本确认、红色操作引导去 </a:t>
            </a:r>
            <a:r>
              <a:rPr lang="en-US" altLang="zh-CN" sz="1500">
                <a:solidFill>
                  <a:srgbClr val="101828"/>
                </a:solidFill>
              </a:rPr>
              <a:t>App </a:t>
            </a:r>
            <a:r>
              <a:rPr lang="zh-CN" altLang="en-US" sz="1500">
                <a:solidFill>
                  <a:srgbClr val="101828"/>
                </a:solidFill>
              </a:rPr>
              <a:t>完成现场因子）</a:t>
            </a:r>
          </a:p>
        </p:txBody>
      </p:sp>
    </p:spTree>
    <p:extLst>
      <p:ext uri="{BB962C8B-B14F-4D97-AF65-F5344CB8AC3E}">
        <p14:creationId xmlns:p14="http://schemas.microsoft.com/office/powerpoint/2010/main" val="34775841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1AFAC831-4C30-5965-2209-625F0E743A04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AF1B5CF-BC91-7866-E5ED-4E55A3AE2896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安全体系①：三级权限分级（绿 </a:t>
            </a:r>
            <a:r>
              <a:rPr lang="en-US" altLang="zh-CN" sz="2200" b="1">
                <a:solidFill>
                  <a:srgbClr val="FFFFFF"/>
                </a:solidFill>
              </a:rPr>
              <a:t>/ </a:t>
            </a:r>
            <a:r>
              <a:rPr lang="zh-CN" altLang="en-US" sz="2200" b="1">
                <a:solidFill>
                  <a:srgbClr val="FFFFFF"/>
                </a:solidFill>
              </a:rPr>
              <a:t>黄 </a:t>
            </a:r>
            <a:r>
              <a:rPr lang="en-US" altLang="zh-CN" sz="2200" b="1">
                <a:solidFill>
                  <a:srgbClr val="FFFFFF"/>
                </a:solidFill>
              </a:rPr>
              <a:t>/ </a:t>
            </a:r>
            <a:r>
              <a:rPr lang="zh-CN" altLang="en-US" sz="2200" b="1">
                <a:solidFill>
                  <a:srgbClr val="FFFFFF"/>
                </a:solidFill>
              </a:rPr>
              <a:t>红）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BB024BC-1B79-1FF0-BA8A-78579E38A030}"/>
              </a:ext>
            </a:extLst>
          </p:cNvPr>
          <p:cNvSpPr txBox="1"/>
          <p:nvPr/>
        </p:nvSpPr>
        <p:spPr>
          <a:xfrm>
            <a:off x="508000" y="1092200"/>
            <a:ext cx="11176000" cy="27694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🟢 绿色 </a:t>
            </a:r>
            <a:r>
              <a:rPr lang="en-US" altLang="zh-CN" sz="1500">
                <a:solidFill>
                  <a:srgbClr val="101828"/>
                </a:solidFill>
              </a:rPr>
              <a:t>· </a:t>
            </a:r>
            <a:r>
              <a:rPr lang="zh-CN" altLang="en-US" sz="1500">
                <a:solidFill>
                  <a:srgbClr val="101828"/>
                </a:solidFill>
              </a:rPr>
              <a:t>自动执行：余额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明细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账单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订阅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持仓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收益查询、风控预检 </a:t>
            </a:r>
            <a:r>
              <a:rPr lang="en-US" altLang="zh-CN" sz="1500">
                <a:solidFill>
                  <a:srgbClr val="101828"/>
                </a:solidFill>
              </a:rPr>
              <a:t>—— </a:t>
            </a:r>
            <a:r>
              <a:rPr lang="zh-CN" altLang="en-US" sz="1500">
                <a:solidFill>
                  <a:srgbClr val="101828"/>
                </a:solidFill>
              </a:rPr>
              <a:t>确认意图后直接执行，写审计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🟡 黄色 </a:t>
            </a:r>
            <a:r>
              <a:rPr lang="en-US" altLang="zh-CN" sz="1500">
                <a:solidFill>
                  <a:srgbClr val="101828"/>
                </a:solidFill>
              </a:rPr>
              <a:t>· </a:t>
            </a:r>
            <a:r>
              <a:rPr lang="zh-CN" altLang="en-US" sz="1500">
                <a:solidFill>
                  <a:srgbClr val="101828"/>
                </a:solidFill>
              </a:rPr>
              <a:t>用户确认：小额转账（当日累计 ≤ </a:t>
            </a:r>
            <a:r>
              <a:rPr lang="en-US" altLang="zh-CN" sz="1500">
                <a:solidFill>
                  <a:srgbClr val="101828"/>
                </a:solidFill>
              </a:rPr>
              <a:t>¥1,000</a:t>
            </a:r>
            <a:r>
              <a:rPr lang="zh-CN" altLang="en-US" sz="1500">
                <a:solidFill>
                  <a:srgbClr val="101828"/>
                </a:solidFill>
              </a:rPr>
              <a:t>）、订阅取消、虚拟卡申请、限额调整、冻结解冻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🔴 红色 </a:t>
            </a:r>
            <a:r>
              <a:rPr lang="en-US" altLang="zh-CN" sz="1500">
                <a:solidFill>
                  <a:srgbClr val="101828"/>
                </a:solidFill>
              </a:rPr>
              <a:t>· </a:t>
            </a:r>
            <a:r>
              <a:rPr lang="zh-CN" altLang="en-US" sz="1500">
                <a:solidFill>
                  <a:srgbClr val="101828"/>
                </a:solidFill>
              </a:rPr>
              <a:t>多因子强验证：大额转账（当日累计 </a:t>
            </a:r>
            <a:r>
              <a:rPr lang="en-US" altLang="zh-CN" sz="1500">
                <a:solidFill>
                  <a:srgbClr val="101828"/>
                </a:solidFill>
              </a:rPr>
              <a:t>&gt; ¥1,000</a:t>
            </a:r>
            <a:r>
              <a:rPr lang="zh-CN" altLang="en-US" sz="1500">
                <a:solidFill>
                  <a:srgbClr val="101828"/>
                </a:solidFill>
              </a:rPr>
              <a:t>）、交易密码修改、挂失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解挂、理财申购赎回、额度调整 </a:t>
            </a:r>
            <a:r>
              <a:rPr lang="en-US" altLang="zh-CN" sz="1500">
                <a:solidFill>
                  <a:srgbClr val="101828"/>
                </a:solidFill>
              </a:rPr>
              <a:t>—— </a:t>
            </a:r>
            <a:r>
              <a:rPr lang="zh-CN" altLang="en-US" sz="1500">
                <a:solidFill>
                  <a:srgbClr val="101828"/>
                </a:solidFill>
              </a:rPr>
              <a:t>需短信验证码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人脸识别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关键设计：判定不通过时不生成确认入口；红色操作不允许在对话里用“确认”代替；阈值与因子集中在配置层，可随行内策略调整</a:t>
            </a:r>
          </a:p>
        </p:txBody>
      </p:sp>
    </p:spTree>
    <p:extLst>
      <p:ext uri="{BB962C8B-B14F-4D97-AF65-F5344CB8AC3E}">
        <p14:creationId xmlns:p14="http://schemas.microsoft.com/office/powerpoint/2010/main" val="4495566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C2B3D4E5-6A12-97A4-7978-463CE7AFBDFC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AEE020E-846A-A669-2C4A-FEBA46D2F4F0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安全体系②：五大机制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风控规则引擎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注入防御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异常熔断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08E186C-B154-1E57-A175-1649414BC7C4}"/>
              </a:ext>
            </a:extLst>
          </p:cNvPr>
          <p:cNvSpPr txBox="1"/>
          <p:nvPr/>
        </p:nvSpPr>
        <p:spPr>
          <a:xfrm>
            <a:off x="508000" y="1092200"/>
            <a:ext cx="11176000" cy="3369640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风控规则引擎（</a:t>
            </a:r>
            <a:r>
              <a:rPr lang="en-US" altLang="zh-CN" sz="1500">
                <a:solidFill>
                  <a:srgbClr val="101828"/>
                </a:solidFill>
              </a:rPr>
              <a:t>10 </a:t>
            </a:r>
            <a:r>
              <a:rPr lang="zh-CN" altLang="en-US" sz="1500">
                <a:solidFill>
                  <a:srgbClr val="101828"/>
                </a:solidFill>
              </a:rPr>
              <a:t>条）：收款人白名单、涉诈黑名单（阻断级）、金额阈值、夜间大额、整数大额、余额不足、单笔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日累计限额、收款人不存在、高风险话术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适当性管理：测评等级不匹配即拒绝，推荐里不会出现高风险产品，拒绝动作同样写审计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全程留痕：成功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未就绪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失败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拒绝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取消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未识别意图六类全部入库，并记录完整决策链路（规划 → 工具调用）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注入防御：识别 </a:t>
            </a:r>
            <a:r>
              <a:rPr lang="en-US" altLang="zh-CN" sz="1500">
                <a:solidFill>
                  <a:srgbClr val="101828"/>
                </a:solidFill>
              </a:rPr>
              <a:t>10 </a:t>
            </a:r>
            <a:r>
              <a:rPr lang="zh-CN" altLang="en-US" sz="1500">
                <a:solidFill>
                  <a:srgbClr val="101828"/>
                </a:solidFill>
              </a:rPr>
              <a:t>类越权诱导（忽略指令、跳过确认、免验证、伪造系统消息</a:t>
            </a:r>
            <a:r>
              <a:rPr lang="en-US" altLang="zh-CN" sz="1500">
                <a:solidFill>
                  <a:srgbClr val="101828"/>
                </a:solidFill>
              </a:rPr>
              <a:t>…</a:t>
            </a:r>
            <a:r>
              <a:rPr lang="zh-CN" altLang="en-US" sz="1500">
                <a:solidFill>
                  <a:srgbClr val="101828"/>
                </a:solidFill>
              </a:rPr>
              <a:t>）→ 告警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安全审计，且结构上无绕过路径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异常熔断：</a:t>
            </a:r>
            <a:r>
              <a:rPr lang="en-US" altLang="zh-CN" sz="1500">
                <a:solidFill>
                  <a:srgbClr val="101828"/>
                </a:solidFill>
              </a:rPr>
              <a:t>10 </a:t>
            </a:r>
            <a:r>
              <a:rPr lang="zh-CN" altLang="en-US" sz="1500">
                <a:solidFill>
                  <a:srgbClr val="101828"/>
                </a:solidFill>
              </a:rPr>
              <a:t>分钟内 </a:t>
            </a:r>
            <a:r>
              <a:rPr lang="en-US" altLang="zh-CN" sz="1500">
                <a:solidFill>
                  <a:srgbClr val="101828"/>
                </a:solidFill>
              </a:rPr>
              <a:t>3 </a:t>
            </a:r>
            <a:r>
              <a:rPr lang="zh-CN" altLang="en-US" sz="1500">
                <a:solidFill>
                  <a:srgbClr val="101828"/>
                </a:solidFill>
              </a:rPr>
              <a:t>次失败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可疑行为 → 锁定全部红色操作 </a:t>
            </a:r>
            <a:r>
              <a:rPr lang="en-US" altLang="zh-CN" sz="1500">
                <a:solidFill>
                  <a:srgbClr val="101828"/>
                </a:solidFill>
              </a:rPr>
              <a:t>5 </a:t>
            </a:r>
            <a:r>
              <a:rPr lang="zh-CN" altLang="en-US" sz="1500">
                <a:solidFill>
                  <a:srgbClr val="101828"/>
                </a:solidFill>
              </a:rPr>
              <a:t>分钟；沙箱声明：运行时不执行任何动态代码，能力来自工具白名单</a:t>
            </a:r>
          </a:p>
        </p:txBody>
      </p:sp>
    </p:spTree>
    <p:extLst>
      <p:ext uri="{BB962C8B-B14F-4D97-AF65-F5344CB8AC3E}">
        <p14:creationId xmlns:p14="http://schemas.microsoft.com/office/powerpoint/2010/main" val="482593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5548741-8E5B-BF77-84CE-21CD632E20C6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6C3F3950-5922-3433-4F27-46D8922A9656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技术架构：五层职责分离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3F51C6B-CE5F-EC90-9AEF-1A903564345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1016000"/>
            <a:ext cx="11176000" cy="4826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C6F582B0-D5F7-56F3-846D-19F96428DA5A}"/>
              </a:ext>
            </a:extLst>
          </p:cNvPr>
          <p:cNvSpPr txBox="1"/>
          <p:nvPr/>
        </p:nvSpPr>
        <p:spPr>
          <a:xfrm>
            <a:off x="508000" y="5969000"/>
            <a:ext cx="11176000" cy="3243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300">
                <a:solidFill>
                  <a:srgbClr val="101828"/>
                </a:solidFill>
              </a:rPr>
              <a:t>意图层只做规划不改数据；工具层 </a:t>
            </a:r>
            <a:r>
              <a:rPr lang="en-US" altLang="zh-CN" sz="1300">
                <a:solidFill>
                  <a:srgbClr val="101828"/>
                </a:solidFill>
              </a:rPr>
              <a:t>30 </a:t>
            </a:r>
            <a:r>
              <a:rPr lang="zh-CN" altLang="en-US" sz="1300">
                <a:solidFill>
                  <a:srgbClr val="101828"/>
                </a:solidFill>
              </a:rPr>
              <a:t>个能力逐项声明风险；门禁层决定能不能做；动作层是唯一动资金的地方；审计层记录发生了什么</a:t>
            </a:r>
          </a:p>
        </p:txBody>
      </p:sp>
    </p:spTree>
    <p:extLst>
      <p:ext uri="{BB962C8B-B14F-4D97-AF65-F5344CB8AC3E}">
        <p14:creationId xmlns:p14="http://schemas.microsoft.com/office/powerpoint/2010/main" val="1573504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0DACDA9B-A548-98E3-FFCC-8C15DAB52A84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D688E3C-F7D2-9884-6B84-3B19D567BBB0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核心技术点：为什么这不是“套壳对话”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4210C32-60FB-6D40-A877-A408E4C3323B}"/>
              </a:ext>
            </a:extLst>
          </p:cNvPr>
          <p:cNvSpPr txBox="1"/>
          <p:nvPr/>
        </p:nvSpPr>
        <p:spPr>
          <a:xfrm>
            <a:off x="508000" y="1092200"/>
            <a:ext cx="11176000" cy="2769476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可解释意图路由：优先级匹配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证据化匹配度（金额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时间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分类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收款人线索逐条给出），不做“凭空 </a:t>
            </a:r>
            <a:r>
              <a:rPr lang="en-US" altLang="zh-CN" sz="1500">
                <a:solidFill>
                  <a:srgbClr val="101828"/>
                </a:solidFill>
              </a:rPr>
              <a:t>95% </a:t>
            </a:r>
            <a:r>
              <a:rPr lang="zh-CN" altLang="en-US" sz="1500">
                <a:solidFill>
                  <a:srgbClr val="101828"/>
                </a:solidFill>
              </a:rPr>
              <a:t>置信度”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能力降级与上下文承接：能力未上线时显式降级并说明；跨轮追问能承接上文，同时不允许劫持无关提问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评分制异常识别：多特征加权（深夜</a:t>
            </a:r>
            <a:r>
              <a:rPr lang="en-US" altLang="zh-CN" sz="1500">
                <a:solidFill>
                  <a:srgbClr val="101828"/>
                </a:solidFill>
              </a:rPr>
              <a:t>+30</a:t>
            </a:r>
            <a:r>
              <a:rPr lang="zh-CN" altLang="en-US" sz="1500">
                <a:solidFill>
                  <a:srgbClr val="101828"/>
                </a:solidFill>
              </a:rPr>
              <a:t>、异地</a:t>
            </a:r>
            <a:r>
              <a:rPr lang="en-US" altLang="zh-CN" sz="1500">
                <a:solidFill>
                  <a:srgbClr val="101828"/>
                </a:solidFill>
              </a:rPr>
              <a:t>+25</a:t>
            </a:r>
            <a:r>
              <a:rPr lang="zh-CN" altLang="en-US" sz="1500">
                <a:solidFill>
                  <a:srgbClr val="101828"/>
                </a:solidFill>
              </a:rPr>
              <a:t>、突增</a:t>
            </a:r>
            <a:r>
              <a:rPr lang="en-US" altLang="zh-CN" sz="1500">
                <a:solidFill>
                  <a:srgbClr val="101828"/>
                </a:solidFill>
              </a:rPr>
              <a:t>+35…</a:t>
            </a:r>
            <a:r>
              <a:rPr lang="zh-CN" altLang="en-US" sz="1500">
                <a:solidFill>
                  <a:srgbClr val="101828"/>
                </a:solidFill>
              </a:rPr>
              <a:t>）≥</a:t>
            </a:r>
            <a:r>
              <a:rPr lang="en-US" altLang="zh-CN" sz="1500">
                <a:solidFill>
                  <a:srgbClr val="101828"/>
                </a:solidFill>
              </a:rPr>
              <a:t>40 </a:t>
            </a:r>
            <a:r>
              <a:rPr lang="zh-CN" altLang="en-US" sz="1500">
                <a:solidFill>
                  <a:srgbClr val="101828"/>
                </a:solidFill>
              </a:rPr>
              <a:t>分告警，独立复现数据中 </a:t>
            </a:r>
            <a:r>
              <a:rPr lang="en-US" altLang="zh-CN" sz="1500">
                <a:solidFill>
                  <a:srgbClr val="101828"/>
                </a:solidFill>
              </a:rPr>
              <a:t>4 </a:t>
            </a:r>
            <a:r>
              <a:rPr lang="zh-CN" altLang="en-US" sz="1500">
                <a:solidFill>
                  <a:srgbClr val="101828"/>
                </a:solidFill>
              </a:rPr>
              <a:t>笔预埋异常、零误报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动作层状态机：</a:t>
            </a:r>
            <a:r>
              <a:rPr lang="en-US" altLang="zh-CN" sz="1500">
                <a:solidFill>
                  <a:srgbClr val="101828"/>
                </a:solidFill>
              </a:rPr>
              <a:t>pending → done</a:t>
            </a:r>
            <a:r>
              <a:rPr lang="zh-CN" altLang="en-US" sz="1500">
                <a:solidFill>
                  <a:srgbClr val="101828"/>
                </a:solidFill>
              </a:rPr>
              <a:t>｜</a:t>
            </a:r>
            <a:r>
              <a:rPr lang="en-US" altLang="zh-CN" sz="1500">
                <a:solidFill>
                  <a:srgbClr val="101828"/>
                </a:solidFill>
              </a:rPr>
              <a:t>cancelled</a:t>
            </a:r>
            <a:r>
              <a:rPr lang="zh-CN" altLang="en-US" sz="1500">
                <a:solidFill>
                  <a:srgbClr val="101828"/>
                </a:solidFill>
              </a:rPr>
              <a:t>｜</a:t>
            </a:r>
            <a:r>
              <a:rPr lang="en-US" altLang="zh-CN" sz="1500">
                <a:solidFill>
                  <a:srgbClr val="101828"/>
                </a:solidFill>
              </a:rPr>
              <a:t>expired</a:t>
            </a:r>
            <a:r>
              <a:rPr lang="zh-CN" altLang="en-US" sz="1500">
                <a:solidFill>
                  <a:srgbClr val="101828"/>
                </a:solidFill>
              </a:rPr>
              <a:t>｜</a:t>
            </a:r>
            <a:r>
              <a:rPr lang="en-US" altLang="zh-CN" sz="1500">
                <a:solidFill>
                  <a:srgbClr val="101828"/>
                </a:solidFill>
              </a:rPr>
              <a:t>locked</a:t>
            </a:r>
            <a:r>
              <a:rPr lang="zh-CN" altLang="en-US" sz="1500">
                <a:solidFill>
                  <a:srgbClr val="101828"/>
                </a:solidFill>
              </a:rPr>
              <a:t>；未确认不动钱、执行前二次校验、防重放、可取消可回退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任务 </a:t>
            </a:r>
            <a:r>
              <a:rPr lang="en-US" altLang="zh-CN" sz="1500">
                <a:solidFill>
                  <a:srgbClr val="101828"/>
                </a:solidFill>
              </a:rPr>
              <a:t>DAG </a:t>
            </a:r>
            <a:r>
              <a:rPr lang="zh-CN" altLang="en-US" sz="1500">
                <a:solidFill>
                  <a:srgbClr val="101828"/>
                </a:solidFill>
              </a:rPr>
              <a:t>拆解：复杂请求拆成带依赖的子任务，按拓扑波次执行并在界面展示（如“第 </a:t>
            </a:r>
            <a:r>
              <a:rPr lang="en-US" altLang="zh-CN" sz="1500">
                <a:solidFill>
                  <a:srgbClr val="101828"/>
                </a:solidFill>
              </a:rPr>
              <a:t>1 </a:t>
            </a:r>
            <a:r>
              <a:rPr lang="zh-CN" altLang="en-US" sz="1500">
                <a:solidFill>
                  <a:srgbClr val="101828"/>
                </a:solidFill>
              </a:rPr>
              <a:t>波并行：账单分析 </a:t>
            </a:r>
            <a:r>
              <a:rPr lang="en-US" altLang="zh-CN" sz="1500">
                <a:solidFill>
                  <a:srgbClr val="101828"/>
                </a:solidFill>
              </a:rPr>
              <a:t>‖ </a:t>
            </a:r>
            <a:r>
              <a:rPr lang="zh-CN" altLang="en-US" sz="1500">
                <a:solidFill>
                  <a:srgbClr val="101828"/>
                </a:solidFill>
              </a:rPr>
              <a:t>异常识别”）</a:t>
            </a:r>
          </a:p>
        </p:txBody>
      </p:sp>
    </p:spTree>
    <p:extLst>
      <p:ext uri="{BB962C8B-B14F-4D97-AF65-F5344CB8AC3E}">
        <p14:creationId xmlns:p14="http://schemas.microsoft.com/office/powerpoint/2010/main" val="19972814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9D1B7198-0D50-5FFA-C7DD-7AF913CDB8E4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C3E9AA5-CCFB-6910-A606-6B37ABEA34DC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现场演示高光：风控拦截 </a:t>
            </a:r>
            <a:r>
              <a:rPr lang="en-US" altLang="zh-CN" sz="2200" b="1">
                <a:solidFill>
                  <a:srgbClr val="FFFFFF"/>
                </a:solidFill>
              </a:rPr>
              <a:t>+ </a:t>
            </a:r>
            <a:r>
              <a:rPr lang="zh-CN" altLang="en-US" sz="2200" b="1">
                <a:solidFill>
                  <a:srgbClr val="FFFFFF"/>
                </a:solidFill>
              </a:rPr>
              <a:t>多因子确认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33604C37-0D3F-94F2-711C-CD15C1A21DB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000" y="965200"/>
            <a:ext cx="5969000" cy="34036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AE6E091D-D330-DBA6-0302-50DA17915674}"/>
              </a:ext>
            </a:extLst>
          </p:cNvPr>
          <p:cNvSpPr txBox="1"/>
          <p:nvPr/>
        </p:nvSpPr>
        <p:spPr>
          <a:xfrm>
            <a:off x="6667500" y="1016000"/>
            <a:ext cx="5080000" cy="21523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01828"/>
                </a:solidFill>
              </a:rPr>
              <a:t>高光 </a:t>
            </a:r>
            <a:r>
              <a:rPr lang="en-US" altLang="zh-CN" sz="1300">
                <a:solidFill>
                  <a:srgbClr val="101828"/>
                </a:solidFill>
              </a:rPr>
              <a:t>A · </a:t>
            </a:r>
            <a:r>
              <a:rPr lang="zh-CN" altLang="en-US" sz="1300">
                <a:solidFill>
                  <a:srgbClr val="101828"/>
                </a:solidFill>
              </a:rPr>
              <a:t>风控拦截：给陌生账户转 </a:t>
            </a:r>
            <a:r>
              <a:rPr lang="en-US" altLang="zh-CN" sz="1300">
                <a:solidFill>
                  <a:srgbClr val="101828"/>
                </a:solidFill>
              </a:rPr>
              <a:t>2 </a:t>
            </a:r>
            <a:r>
              <a:rPr lang="zh-CN" altLang="en-US" sz="1300">
                <a:solidFill>
                  <a:srgbClr val="101828"/>
                </a:solidFill>
              </a:rPr>
              <a:t>万（尾号命中涉诈黑名单）→ 直接拦截，不提供确认入口，提示拨打 </a:t>
            </a:r>
            <a:r>
              <a:rPr lang="en-US" altLang="zh-CN" sz="1300">
                <a:solidFill>
                  <a:srgbClr val="101828"/>
                </a:solidFill>
              </a:rPr>
              <a:t>96110</a:t>
            </a:r>
          </a:p>
          <a:p>
            <a:pPr>
              <a:lnSpc>
                <a:spcPct val="130000"/>
              </a:lnSpc>
            </a:pPr>
            <a:endParaRPr lang="en-US" altLang="zh-CN" sz="13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01828"/>
                </a:solidFill>
              </a:rPr>
              <a:t>高光 </a:t>
            </a:r>
            <a:r>
              <a:rPr lang="en-US" altLang="zh-CN" sz="1300">
                <a:solidFill>
                  <a:srgbClr val="101828"/>
                </a:solidFill>
              </a:rPr>
              <a:t>B · </a:t>
            </a:r>
            <a:r>
              <a:rPr lang="zh-CN" altLang="en-US" sz="1300">
                <a:solidFill>
                  <a:srgbClr val="101828"/>
                </a:solidFill>
              </a:rPr>
              <a:t>多因子：给妈妈转 </a:t>
            </a:r>
            <a:r>
              <a:rPr lang="en-US" altLang="zh-CN" sz="1300">
                <a:solidFill>
                  <a:srgbClr val="101828"/>
                </a:solidFill>
              </a:rPr>
              <a:t>2,000 → </a:t>
            </a:r>
            <a:r>
              <a:rPr lang="zh-CN" altLang="en-US" sz="1300">
                <a:solidFill>
                  <a:srgbClr val="101828"/>
                </a:solidFill>
              </a:rPr>
              <a:t>判定红色（当日累计超 </a:t>
            </a:r>
            <a:r>
              <a:rPr lang="en-US" altLang="zh-CN" sz="1300">
                <a:solidFill>
                  <a:srgbClr val="101828"/>
                </a:solidFill>
              </a:rPr>
              <a:t>¥1,000</a:t>
            </a:r>
            <a:r>
              <a:rPr lang="zh-CN" altLang="en-US" sz="1300">
                <a:solidFill>
                  <a:srgbClr val="101828"/>
                </a:solidFill>
              </a:rPr>
              <a:t>）→ 需短信验证码 </a:t>
            </a:r>
            <a:r>
              <a:rPr lang="en-US" altLang="zh-CN" sz="1300">
                <a:solidFill>
                  <a:srgbClr val="101828"/>
                </a:solidFill>
              </a:rPr>
              <a:t>+ </a:t>
            </a:r>
            <a:r>
              <a:rPr lang="zh-CN" altLang="en-US" sz="1300">
                <a:solidFill>
                  <a:srgbClr val="101828"/>
                </a:solidFill>
              </a:rPr>
              <a:t>人脸识别，两因子未齐时按钮禁用</a:t>
            </a:r>
          </a:p>
          <a:p>
            <a:pPr>
              <a:lnSpc>
                <a:spcPct val="130000"/>
              </a:lnSpc>
            </a:pPr>
            <a:endParaRPr lang="zh-CN" altLang="en-US" sz="13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300">
                <a:solidFill>
                  <a:srgbClr val="101828"/>
                </a:solidFill>
              </a:rPr>
              <a:t>高光 </a:t>
            </a:r>
            <a:r>
              <a:rPr lang="en-US" altLang="zh-CN" sz="1300">
                <a:solidFill>
                  <a:srgbClr val="101828"/>
                </a:solidFill>
              </a:rPr>
              <a:t>C · </a:t>
            </a:r>
            <a:r>
              <a:rPr lang="zh-CN" altLang="en-US" sz="1300">
                <a:solidFill>
                  <a:srgbClr val="101828"/>
                </a:solidFill>
              </a:rPr>
              <a:t>跨场景：一句“下周我妈生日” → 主动补问 → 锁定 </a:t>
            </a:r>
            <a:r>
              <a:rPr lang="en-US" altLang="zh-CN" sz="1300">
                <a:solidFill>
                  <a:srgbClr val="101828"/>
                </a:solidFill>
              </a:rPr>
              <a:t>¥500 → </a:t>
            </a:r>
            <a:r>
              <a:rPr lang="zh-CN" altLang="en-US" sz="1300">
                <a:solidFill>
                  <a:srgbClr val="101828"/>
                </a:solidFill>
              </a:rPr>
              <a:t>生日前 </a:t>
            </a:r>
            <a:r>
              <a:rPr lang="en-US" altLang="zh-CN" sz="1300">
                <a:solidFill>
                  <a:srgbClr val="101828"/>
                </a:solidFill>
              </a:rPr>
              <a:t>2 </a:t>
            </a:r>
            <a:r>
              <a:rPr lang="zh-CN" altLang="en-US" sz="1300">
                <a:solidFill>
                  <a:srgbClr val="101828"/>
                </a:solidFill>
              </a:rPr>
              <a:t>天自动下单（</a:t>
            </a:r>
            <a:r>
              <a:rPr lang="en-US" altLang="zh-CN" sz="1300">
                <a:solidFill>
                  <a:srgbClr val="101828"/>
                </a:solidFill>
              </a:rPr>
              <a:t>¥486</a:t>
            </a:r>
            <a:r>
              <a:rPr lang="zh-CN" altLang="en-US" sz="1300">
                <a:solidFill>
                  <a:srgbClr val="101828"/>
                </a:solidFill>
              </a:rPr>
              <a:t>，留 </a:t>
            </a:r>
            <a:r>
              <a:rPr lang="en-US" altLang="zh-CN" sz="1300">
                <a:solidFill>
                  <a:srgbClr val="101828"/>
                </a:solidFill>
              </a:rPr>
              <a:t>¥14</a:t>
            </a:r>
            <a:r>
              <a:rPr lang="zh-CN" altLang="en-US" sz="1300">
                <a:solidFill>
                  <a:srgbClr val="101828"/>
                </a:solidFill>
              </a:rPr>
              <a:t>） → 生成提醒</a:t>
            </a:r>
          </a:p>
        </p:txBody>
      </p:sp>
    </p:spTree>
    <p:extLst>
      <p:ext uri="{BB962C8B-B14F-4D97-AF65-F5344CB8AC3E}">
        <p14:creationId xmlns:p14="http://schemas.microsoft.com/office/powerpoint/2010/main" val="42156715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A191405-DF54-0B53-9C2F-836EC9DEB283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9CDD6608-9B2B-CE20-9442-C1C8D9660E88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赛题对齐：逐条响应核心技术要求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C53AA8C-DCF2-5057-8663-D17AE446A59C}"/>
              </a:ext>
            </a:extLst>
          </p:cNvPr>
          <p:cNvSpPr txBox="1"/>
          <p:nvPr/>
        </p:nvSpPr>
        <p:spPr>
          <a:xfrm>
            <a:off x="508000" y="1092200"/>
            <a:ext cx="11176000" cy="33679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权限分级（高）：✅ 绿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黄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红三级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当日累计 </a:t>
            </a:r>
            <a:r>
              <a:rPr lang="en-US" altLang="zh-CN" sz="1500">
                <a:solidFill>
                  <a:srgbClr val="101828"/>
                </a:solidFill>
              </a:rPr>
              <a:t>¥1,000 </a:t>
            </a:r>
            <a:r>
              <a:rPr lang="zh-CN" altLang="en-US" sz="1500">
                <a:solidFill>
                  <a:srgbClr val="101828"/>
                </a:solidFill>
              </a:rPr>
              <a:t>口径 </a:t>
            </a:r>
            <a:r>
              <a:rPr lang="en-US" altLang="zh-CN" sz="1500">
                <a:solidFill>
                  <a:srgbClr val="101828"/>
                </a:solidFill>
              </a:rPr>
              <a:t>+ </a:t>
            </a:r>
            <a:r>
              <a:rPr lang="zh-CN" altLang="en-US" sz="1500">
                <a:solidFill>
                  <a:srgbClr val="101828"/>
                </a:solidFill>
              </a:rPr>
              <a:t>多因子（短信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人脸可替换行内 </a:t>
            </a:r>
            <a:r>
              <a:rPr lang="en-US" altLang="zh-CN" sz="1500">
                <a:solidFill>
                  <a:srgbClr val="101828"/>
                </a:solidFill>
              </a:rPr>
              <a:t>SDK</a:t>
            </a:r>
            <a:r>
              <a:rPr lang="zh-CN" altLang="en-US" sz="1500">
                <a:solidFill>
                  <a:srgbClr val="101828"/>
                </a:solidFill>
              </a:rPr>
              <a:t>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安全机制（高）：✅ 幻觉防护（数据只来自工具返回）｜✅ 注入防御｜✅ 操作审计含决策链路｜✅ 异常熔断｜✅ 无动态代码执行的沙箱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意图理解与任务规划：✅ 模糊表达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省略上下文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隐含意图｜✅ 子任务 </a:t>
            </a:r>
            <a:r>
              <a:rPr lang="en-US" altLang="zh-CN" sz="1500">
                <a:solidFill>
                  <a:srgbClr val="101828"/>
                </a:solidFill>
              </a:rPr>
              <a:t>DAG</a:t>
            </a:r>
            <a:r>
              <a:rPr lang="zh-CN" altLang="en-US" sz="1500">
                <a:solidFill>
                  <a:srgbClr val="101828"/>
                </a:solidFill>
              </a:rPr>
              <a:t>｜✅ 中断（取消确认）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回退（回退上一步）</a:t>
            </a:r>
            <a:r>
              <a:rPr lang="en-US" altLang="zh-CN" sz="1500">
                <a:solidFill>
                  <a:srgbClr val="101828"/>
                </a:solidFill>
              </a:rPr>
              <a:t>·</a:t>
            </a:r>
            <a:r>
              <a:rPr lang="zh-CN" altLang="en-US" sz="1500">
                <a:solidFill>
                  <a:srgbClr val="101828"/>
                </a:solidFill>
              </a:rPr>
              <a:t>人工接管（转人工工单）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场景覆盖：✅ 赛题 </a:t>
            </a:r>
            <a:r>
              <a:rPr lang="en-US" altLang="zh-CN" sz="1500">
                <a:solidFill>
                  <a:srgbClr val="101828"/>
                </a:solidFill>
              </a:rPr>
              <a:t>6 </a:t>
            </a:r>
            <a:r>
              <a:rPr lang="zh-CN" altLang="en-US" sz="1500">
                <a:solidFill>
                  <a:srgbClr val="101828"/>
                </a:solidFill>
              </a:rPr>
              <a:t>个场景全部落地（要求至少 </a:t>
            </a:r>
            <a:r>
              <a:rPr lang="en-US" altLang="zh-CN" sz="1500">
                <a:solidFill>
                  <a:srgbClr val="101828"/>
                </a:solidFill>
              </a:rPr>
              <a:t>3 </a:t>
            </a:r>
            <a:r>
              <a:rPr lang="zh-CN" altLang="en-US" sz="1500">
                <a:solidFill>
                  <a:srgbClr val="101828"/>
                </a:solidFill>
              </a:rPr>
              <a:t>个）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渠道：✅ </a:t>
            </a:r>
            <a:r>
              <a:rPr lang="en-US" altLang="zh-CN" sz="1500">
                <a:solidFill>
                  <a:srgbClr val="101828"/>
                </a:solidFill>
              </a:rPr>
              <a:t>APP </a:t>
            </a:r>
            <a:r>
              <a:rPr lang="zh-CN" altLang="en-US" sz="1500">
                <a:solidFill>
                  <a:srgbClr val="101828"/>
                </a:solidFill>
              </a:rPr>
              <a:t>主界面 </a:t>
            </a:r>
            <a:r>
              <a:rPr lang="en-US" altLang="zh-CN" sz="1500">
                <a:solidFill>
                  <a:srgbClr val="101828"/>
                </a:solidFill>
              </a:rPr>
              <a:t>+ IM </a:t>
            </a:r>
            <a:r>
              <a:rPr lang="zh-CN" altLang="en-US" sz="1500">
                <a:solidFill>
                  <a:srgbClr val="101828"/>
                </a:solidFill>
              </a:rPr>
              <a:t>文本通道（红色操作引导回 </a:t>
            </a:r>
            <a:r>
              <a:rPr lang="en-US" altLang="zh-CN" sz="1500">
                <a:solidFill>
                  <a:srgbClr val="101828"/>
                </a:solidFill>
              </a:rPr>
              <a:t>App </a:t>
            </a:r>
            <a:r>
              <a:rPr lang="zh-CN" altLang="en-US" sz="1500">
                <a:solidFill>
                  <a:srgbClr val="101828"/>
                </a:solidFill>
              </a:rPr>
              <a:t>完成现场因子）</a:t>
            </a:r>
          </a:p>
        </p:txBody>
      </p:sp>
    </p:spTree>
    <p:extLst>
      <p:ext uri="{BB962C8B-B14F-4D97-AF65-F5344CB8AC3E}">
        <p14:creationId xmlns:p14="http://schemas.microsoft.com/office/powerpoint/2010/main" val="33803517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D142FAA4-0F02-11D9-BFD0-45DB8C9F2089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7704151-7DBE-527B-FAC0-27C65D0413FD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验证与质量：把“合规”变成“可验证”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90494BD-90E3-64B0-61AE-38755B3FA4AC}"/>
              </a:ext>
            </a:extLst>
          </p:cNvPr>
          <p:cNvSpPr txBox="1"/>
          <p:nvPr/>
        </p:nvSpPr>
        <p:spPr>
          <a:xfrm>
            <a:off x="508000" y="1092200"/>
            <a:ext cx="11176000" cy="3069558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自动化验收：</a:t>
            </a:r>
            <a:r>
              <a:rPr lang="en-US" altLang="zh-CN" sz="1500">
                <a:solidFill>
                  <a:srgbClr val="101828"/>
                </a:solidFill>
              </a:rPr>
              <a:t>selftest 329 </a:t>
            </a:r>
            <a:r>
              <a:rPr lang="zh-CN" altLang="en-US" sz="1500">
                <a:solidFill>
                  <a:srgbClr val="101828"/>
                </a:solidFill>
              </a:rPr>
              <a:t>项 ✅｜真实链路与持久化专项 </a:t>
            </a:r>
            <a:r>
              <a:rPr lang="en-US" altLang="zh-CN" sz="1500">
                <a:solidFill>
                  <a:srgbClr val="101828"/>
                </a:solidFill>
              </a:rPr>
              <a:t>20 </a:t>
            </a:r>
            <a:r>
              <a:rPr lang="zh-CN" altLang="en-US" sz="1500">
                <a:solidFill>
                  <a:srgbClr val="101828"/>
                </a:solidFill>
              </a:rPr>
              <a:t>项 ✅｜六场景彩排 </a:t>
            </a:r>
            <a:r>
              <a:rPr lang="en-US" altLang="zh-CN" sz="1500">
                <a:solidFill>
                  <a:srgbClr val="101828"/>
                </a:solidFill>
              </a:rPr>
              <a:t>25 </a:t>
            </a:r>
            <a:r>
              <a:rPr lang="zh-CN" altLang="en-US" sz="1500">
                <a:solidFill>
                  <a:srgbClr val="101828"/>
                </a:solidFill>
              </a:rPr>
              <a:t>项 ✅｜安全探针（穿越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注入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泄露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监听面）全通过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数据真落盘：用独立进程读取磁盘文件证明持久化；服务重启后审计编号连续、台账与对话完整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不依赖预埋标记：异常识别独立复现全部 </a:t>
            </a:r>
            <a:r>
              <a:rPr lang="en-US" altLang="zh-CN" sz="1500">
                <a:solidFill>
                  <a:srgbClr val="101828"/>
                </a:solidFill>
              </a:rPr>
              <a:t>4 </a:t>
            </a:r>
            <a:r>
              <a:rPr lang="zh-CN" altLang="en-US" sz="1500">
                <a:solidFill>
                  <a:srgbClr val="101828"/>
                </a:solidFill>
              </a:rPr>
              <a:t>笔埋点且零误报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未确认不动钱：断言覆盖“生成待确认单余额不变”“取消后余额不变”“熔断期间即使因子正确也不放行”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演示可复现：一键彩排脚本按演示顺序跑完六场景并计时，预计现场总时长约 </a:t>
            </a:r>
            <a:r>
              <a:rPr lang="en-US" altLang="zh-CN" sz="1500">
                <a:solidFill>
                  <a:srgbClr val="101828"/>
                </a:solidFill>
              </a:rPr>
              <a:t>180 </a:t>
            </a:r>
            <a:r>
              <a:rPr lang="zh-CN" altLang="en-US" sz="1500">
                <a:solidFill>
                  <a:srgbClr val="101828"/>
                </a:solidFill>
              </a:rPr>
              <a:t>秒</a:t>
            </a:r>
          </a:p>
        </p:txBody>
      </p:sp>
    </p:spTree>
    <p:extLst>
      <p:ext uri="{BB962C8B-B14F-4D97-AF65-F5344CB8AC3E}">
        <p14:creationId xmlns:p14="http://schemas.microsoft.com/office/powerpoint/2010/main" val="39188179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4462C5E6-07DB-446A-18A6-FAB97479A47E}"/>
              </a:ext>
            </a:extLst>
          </p:cNvPr>
          <p:cNvSpPr/>
          <p:nvPr/>
        </p:nvSpPr>
        <p:spPr>
          <a:xfrm>
            <a:off x="0" y="0"/>
            <a:ext cx="12192000" cy="7874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8D39CAB2-6C01-507E-E5CB-CF133434481A}"/>
              </a:ext>
            </a:extLst>
          </p:cNvPr>
          <p:cNvSpPr txBox="1"/>
          <p:nvPr/>
        </p:nvSpPr>
        <p:spPr>
          <a:xfrm>
            <a:off x="508000" y="177800"/>
            <a:ext cx="11176000" cy="48513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200" b="1">
                <a:solidFill>
                  <a:srgbClr val="FFFFFF"/>
                </a:solidFill>
              </a:rPr>
              <a:t>落地价值与路径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1C31043-2ECB-FA03-01F9-A9554457E38B}"/>
              </a:ext>
            </a:extLst>
          </p:cNvPr>
          <p:cNvSpPr txBox="1"/>
          <p:nvPr/>
        </p:nvSpPr>
        <p:spPr>
          <a:xfrm>
            <a:off x="508000" y="1092200"/>
            <a:ext cx="11176000" cy="246939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对客户：把“找入口、填表单、读条款”压缩成一句话；同时避免被诈骗话术与高风险产品伤害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对银行：降低柜面与客服压力、提升年轻客群活跃度；把制度里的风控与适当性要求落成可运行、可审计的系统能力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能力可复用：适当性引擎（理财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代销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保险）、操作留痕与质检、账单洞察、以及作为行内其他 </a:t>
            </a:r>
            <a:r>
              <a:rPr lang="en-US" altLang="zh-CN" sz="1500">
                <a:solidFill>
                  <a:srgbClr val="101828"/>
                </a:solidFill>
              </a:rPr>
              <a:t>Agent </a:t>
            </a:r>
            <a:r>
              <a:rPr lang="zh-CN" altLang="en-US" sz="1500">
                <a:solidFill>
                  <a:srgbClr val="101828"/>
                </a:solidFill>
              </a:rPr>
              <a:t>的安全底座</a:t>
            </a:r>
          </a:p>
          <a:p>
            <a:pPr>
              <a:lnSpc>
                <a:spcPct val="130000"/>
              </a:lnSpc>
            </a:pPr>
            <a:endParaRPr lang="zh-CN" altLang="en-US" sz="1500">
              <a:solidFill>
                <a:srgbClr val="101828"/>
              </a:solidFill>
            </a:endParaRPr>
          </a:p>
          <a:p>
            <a:pPr>
              <a:lnSpc>
                <a:spcPct val="130000"/>
              </a:lnSpc>
            </a:pPr>
            <a:r>
              <a:rPr lang="zh-CN" altLang="en-US" sz="1500">
                <a:solidFill>
                  <a:srgbClr val="101828"/>
                </a:solidFill>
              </a:rPr>
              <a:t>  </a:t>
            </a:r>
            <a:r>
              <a:rPr lang="en-US" altLang="zh-CN" sz="1500">
                <a:solidFill>
                  <a:srgbClr val="101828"/>
                </a:solidFill>
              </a:rPr>
              <a:t>- </a:t>
            </a:r>
            <a:r>
              <a:rPr lang="zh-CN" altLang="en-US" sz="1500">
                <a:solidFill>
                  <a:srgbClr val="101828"/>
                </a:solidFill>
              </a:rPr>
              <a:t>落地路径：①数据源替换（沙箱 → 行内账户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产品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反诈名单）②执行通道替换（动作层 → 核心系统</a:t>
            </a:r>
            <a:r>
              <a:rPr lang="en-US" altLang="zh-CN" sz="1500">
                <a:solidFill>
                  <a:srgbClr val="101828"/>
                </a:solidFill>
              </a:rPr>
              <a:t>/</a:t>
            </a:r>
            <a:r>
              <a:rPr lang="zh-CN" altLang="en-US" sz="1500">
                <a:solidFill>
                  <a:srgbClr val="101828"/>
                </a:solidFill>
              </a:rPr>
              <a:t>开放平台）③模型合规接入（私有化）④策略运营（规则与阈值集中在配置层）</a:t>
            </a:r>
          </a:p>
        </p:txBody>
      </p:sp>
    </p:spTree>
    <p:extLst>
      <p:ext uri="{BB962C8B-B14F-4D97-AF65-F5344CB8AC3E}">
        <p14:creationId xmlns:p14="http://schemas.microsoft.com/office/powerpoint/2010/main" val="17918350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8E2F1DF6-D042-62B9-2EE8-890509F8D28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80"/>
          </a:solidFill>
          <a:ln w="1905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905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46F524B-EB93-27C9-4C2E-291F263A14FB}"/>
              </a:ext>
            </a:extLst>
          </p:cNvPr>
          <p:cNvSpPr txBox="1"/>
          <p:nvPr/>
        </p:nvSpPr>
        <p:spPr>
          <a:xfrm>
            <a:off x="889000" y="2667000"/>
            <a:ext cx="10414000" cy="5922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2800" b="1">
                <a:solidFill>
                  <a:srgbClr val="FFFFFF"/>
                </a:solidFill>
              </a:rPr>
              <a:t>该拦的拦得住，该拒的拒得掉，该办的一步到位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4114358-9F3E-963F-A415-577CF0E5A70E}"/>
              </a:ext>
            </a:extLst>
          </p:cNvPr>
          <p:cNvSpPr txBox="1"/>
          <p:nvPr/>
        </p:nvSpPr>
        <p:spPr>
          <a:xfrm>
            <a:off x="914400" y="3937000"/>
            <a:ext cx="10414000" cy="377989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5000"/>
              </a:lnSpc>
            </a:pPr>
            <a:r>
              <a:rPr lang="zh-CN" altLang="en-US" sz="1600">
                <a:solidFill>
                  <a:srgbClr val="E8F0FE"/>
                </a:solidFill>
              </a:rPr>
              <a:t>银枢 </a:t>
            </a:r>
            <a:r>
              <a:rPr lang="en-US" altLang="zh-CN" sz="1600">
                <a:solidFill>
                  <a:srgbClr val="E8F0FE"/>
                </a:solidFill>
              </a:rPr>
              <a:t>· AI</a:t>
            </a:r>
            <a:r>
              <a:rPr lang="zh-CN" altLang="en-US" sz="1600">
                <a:solidFill>
                  <a:srgbClr val="E8F0FE"/>
                </a:solidFill>
              </a:rPr>
              <a:t>银行副驾　</a:t>
            </a:r>
            <a:r>
              <a:rPr lang="en-US" altLang="zh-CN" sz="1600">
                <a:solidFill>
                  <a:srgbClr val="E8F0FE"/>
                </a:solidFill>
              </a:rPr>
              <a:t>|</a:t>
            </a:r>
            <a:r>
              <a:rPr lang="zh-CN" altLang="en-US" sz="1600">
                <a:solidFill>
                  <a:srgbClr val="E8F0FE"/>
                </a:solidFill>
              </a:rPr>
              <a:t>　谢谢，欢迎提问</a:t>
            </a:r>
          </a:p>
        </p:txBody>
      </p:sp>
    </p:spTree>
    <p:extLst>
      <p:ext uri="{BB962C8B-B14F-4D97-AF65-F5344CB8AC3E}">
        <p14:creationId xmlns:p14="http://schemas.microsoft.com/office/powerpoint/2010/main" val="38635465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3584</Words>
  <Application>Microsoft Office PowerPoint</Application>
  <PresentationFormat>自定义</PresentationFormat>
  <Paragraphs>124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17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xh hx</dc:creator>
  <cp:lastModifiedBy>xh hx</cp:lastModifiedBy>
  <cp:revision>1</cp:revision>
  <dcterms:created xsi:type="dcterms:W3CDTF">2026-09-22T09:23:34Z</dcterms:created>
  <dcterms:modified xsi:type="dcterms:W3CDTF">2026-09-22T09:23:34Z</dcterms:modified>
</cp:coreProperties>
</file>